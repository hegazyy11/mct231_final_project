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0" Type="http://schemas.openxmlformats.org/officeDocument/2006/relationships/image" Target="../media/image11.png"/><Relationship Id="rId9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7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19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40.png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5.png"/><Relationship Id="rId5" Type="http://schemas.openxmlformats.org/officeDocument/2006/relationships/image" Target="../media/image4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9.png"/><Relationship Id="rId4" Type="http://schemas.openxmlformats.org/officeDocument/2006/relationships/image" Target="../media/image36.png"/><Relationship Id="rId5" Type="http://schemas.openxmlformats.org/officeDocument/2006/relationships/image" Target="../media/image70.png"/><Relationship Id="rId6" Type="http://schemas.openxmlformats.org/officeDocument/2006/relationships/image" Target="../media/image6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50.png"/><Relationship Id="rId5" Type="http://schemas.openxmlformats.org/officeDocument/2006/relationships/image" Target="../media/image44.png"/><Relationship Id="rId6" Type="http://schemas.openxmlformats.org/officeDocument/2006/relationships/image" Target="../media/image60.png"/><Relationship Id="rId7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8.png"/><Relationship Id="rId4" Type="http://schemas.openxmlformats.org/officeDocument/2006/relationships/image" Target="../media/image28.png"/><Relationship Id="rId5" Type="http://schemas.openxmlformats.org/officeDocument/2006/relationships/image" Target="../media/image63.png"/><Relationship Id="rId6" Type="http://schemas.openxmlformats.org/officeDocument/2006/relationships/image" Target="../media/image7.png"/><Relationship Id="rId7" Type="http://schemas.openxmlformats.org/officeDocument/2006/relationships/image" Target="../media/image55.png"/><Relationship Id="rId8" Type="http://schemas.openxmlformats.org/officeDocument/2006/relationships/image" Target="../media/image6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10" Type="http://schemas.openxmlformats.org/officeDocument/2006/relationships/image" Target="../media/image2.png"/><Relationship Id="rId9" Type="http://schemas.openxmlformats.org/officeDocument/2006/relationships/image" Target="../media/image28.png"/><Relationship Id="rId5" Type="http://schemas.openxmlformats.org/officeDocument/2006/relationships/image" Target="../media/image72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Relationship Id="rId4" Type="http://schemas.openxmlformats.org/officeDocument/2006/relationships/image" Target="../media/image73.png"/><Relationship Id="rId5" Type="http://schemas.openxmlformats.org/officeDocument/2006/relationships/image" Target="../media/image7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-2011680" y="914400"/>
            <a:ext cx="5120640" cy="5120640"/>
          </a:xfrm>
          <a:prstGeom prst="ellipse">
            <a:avLst/>
          </a:prstGeom>
          <a:noFill/>
          <a:ln cap="flat" cmpd="sng" w="19050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-1097280" y="1828800"/>
            <a:ext cx="3291840" cy="329184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66928" y="6400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AIN SHAMS UNIVERSITY  ·  MECHATRONICS ENGINEERING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66928" y="1554480"/>
            <a:ext cx="8686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5800"/>
              <a:buFont typeface="Trebuchet MS"/>
              <a:buNone/>
            </a:pPr>
            <a:r>
              <a:rPr b="1" lang="en-US" sz="5800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66928" y="3657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An automated closed-loop sorting, shooting &amp; lifting toy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847525" y="859075"/>
            <a:ext cx="4062600" cy="3571200"/>
          </a:xfrm>
          <a:prstGeom prst="roundRect">
            <a:avLst>
              <a:gd fmla="val 3636" name="adj"/>
            </a:avLst>
          </a:prstGeom>
          <a:solidFill>
            <a:srgbClr val="14274A"/>
          </a:solidFill>
          <a:ln cap="flat" cmpd="sng" w="1905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66928" y="4846320"/>
            <a:ext cx="3108960" cy="420624"/>
          </a:xfrm>
          <a:prstGeom prst="roundRect">
            <a:avLst>
              <a:gd fmla="val 1521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76656" y="4846320"/>
            <a:ext cx="288950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DEBF5"/>
                </a:solidFill>
                <a:latin typeface="Calibri"/>
                <a:ea typeface="Calibri"/>
                <a:cs typeface="Calibri"/>
                <a:sym typeface="Calibri"/>
              </a:rPr>
              <a:t>MCT231 — Basics of Mechatronics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813048" y="4846320"/>
            <a:ext cx="2651760" cy="420624"/>
          </a:xfrm>
          <a:prstGeom prst="roundRect">
            <a:avLst>
              <a:gd fmla="val 1521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922776" y="4846320"/>
            <a:ext cx="243230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DEBF5"/>
                </a:solidFill>
                <a:latin typeface="Calibri"/>
                <a:ea typeface="Calibri"/>
                <a:cs typeface="Calibri"/>
                <a:sym typeface="Calibri"/>
              </a:rPr>
              <a:t>Academic Year 2025 /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601968" y="4846320"/>
            <a:ext cx="3017520" cy="420624"/>
          </a:xfrm>
          <a:prstGeom prst="roundRect">
            <a:avLst>
              <a:gd fmla="val 1521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711696" y="4846320"/>
            <a:ext cx="279806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DEBF5"/>
                </a:solidFill>
                <a:latin typeface="Calibri"/>
                <a:ea typeface="Calibri"/>
                <a:cs typeface="Calibri"/>
                <a:sym typeface="Calibri"/>
              </a:rPr>
              <a:t>Supervisor: Dr. Shady A. Maged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66928" y="55321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9FB1CC"/>
                </a:solidFill>
                <a:latin typeface="Trebuchet MS"/>
                <a:ea typeface="Trebuchet MS"/>
                <a:cs typeface="Trebuchet MS"/>
                <a:sym typeface="Trebuchet MS"/>
              </a:rPr>
              <a:t>TEAM   ·   Omar   ·   Anas   ·   Teefa   ·   Essa   ·   Mario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7525" y="932450"/>
            <a:ext cx="4565908" cy="34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01  ·  CONTENTS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66928" y="2057400"/>
            <a:ext cx="2606040" cy="1737360"/>
          </a:xfrm>
          <a:prstGeom prst="roundRect">
            <a:avLst>
              <a:gd fmla="val 473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786384" y="2276856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295" y="2433767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786384" y="2971800"/>
            <a:ext cx="2167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Concept &amp; Game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86384" y="3300984"/>
            <a:ext cx="216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Theme, story, play loop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337560" y="2057400"/>
            <a:ext cx="2606040" cy="1737360"/>
          </a:xfrm>
          <a:prstGeom prst="roundRect">
            <a:avLst>
              <a:gd fmla="val 473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557016" y="2276856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3927" y="2433767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/>
          <p:nvPr/>
        </p:nvSpPr>
        <p:spPr>
          <a:xfrm>
            <a:off x="3557016" y="2971800"/>
            <a:ext cx="2167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Overview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557016" y="3300984"/>
            <a:ext cx="216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The closed-loop 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108192" y="2057400"/>
            <a:ext cx="2606040" cy="1737360"/>
          </a:xfrm>
          <a:prstGeom prst="roundRect">
            <a:avLst>
              <a:gd fmla="val 473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327648" y="2276856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4559" y="2433767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6327648" y="2971800"/>
            <a:ext cx="2167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&amp; Build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327648" y="3300984"/>
            <a:ext cx="216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CAD and real prototype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878824" y="2057400"/>
            <a:ext cx="2606040" cy="1737360"/>
          </a:xfrm>
          <a:prstGeom prst="roundRect">
            <a:avLst>
              <a:gd fmla="val 473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9098280" y="2276856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55191" y="2433767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9098280" y="2971800"/>
            <a:ext cx="2167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Mechanisms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9098280" y="3300984"/>
            <a:ext cx="216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Sorting · Shooting · Lifting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66928" y="4050792"/>
            <a:ext cx="2606040" cy="1737360"/>
          </a:xfrm>
          <a:prstGeom prst="roundRect">
            <a:avLst>
              <a:gd fmla="val 473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86384" y="4270248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3295" y="4427159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786384" y="4965192"/>
            <a:ext cx="2167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Electronics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86384" y="5294376"/>
            <a:ext cx="216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Power, control &amp; comms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337560" y="4050792"/>
            <a:ext cx="2606040" cy="1737360"/>
          </a:xfrm>
          <a:prstGeom prst="roundRect">
            <a:avLst>
              <a:gd fmla="val 473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557016" y="4270248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13927" y="4427159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3557016" y="4965192"/>
            <a:ext cx="2167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557016" y="5294376"/>
            <a:ext cx="216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App &amp; Bluetooth link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108192" y="4050792"/>
            <a:ext cx="2606040" cy="1737360"/>
          </a:xfrm>
          <a:prstGeom prst="roundRect">
            <a:avLst>
              <a:gd fmla="val 473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327648" y="4270248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4559" y="4427159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6327648" y="4965192"/>
            <a:ext cx="2167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Problems Solved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327648" y="5294376"/>
            <a:ext cx="216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Iteration &amp; safety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878824" y="4050792"/>
            <a:ext cx="2606040" cy="1737360"/>
          </a:xfrm>
          <a:prstGeom prst="roundRect">
            <a:avLst>
              <a:gd fmla="val 473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9098280" y="4270248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55191" y="4427159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9098280" y="4965192"/>
            <a:ext cx="2167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098280" y="5294376"/>
            <a:ext cx="2167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Validation &amp; outcomes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6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7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1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9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6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4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8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5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9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3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7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4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8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02  ·  OVERVIEW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Overview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66928" y="178308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An electromechanical toy for children aged 2–10 that demonstrates an automated sort–transport–dispatch cycle as a continuous physical closed loop, with a companion app for play.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66928" y="2926080"/>
            <a:ext cx="566928" cy="56692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29" y="307348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1335024" y="2889504"/>
            <a:ext cx="56327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Three mechanisms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335024" y="3200400"/>
            <a:ext cx="56327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Colour sorting, projectile shooting, vertical lifting.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66928" y="3840480"/>
            <a:ext cx="566928" cy="56692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29" y="398788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1335024" y="3803904"/>
            <a:ext cx="56327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Closed loop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335024" y="4114800"/>
            <a:ext cx="56327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Single marble inlet; no manual reloading during play.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66928" y="4754880"/>
            <a:ext cx="566928" cy="56692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29" y="490228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1335024" y="4718304"/>
            <a:ext cx="56327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Two microcontrollers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335024" y="5029200"/>
            <a:ext cx="56327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Arduino Mega (master) + Uno (slave) over UART.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406640" y="1783080"/>
            <a:ext cx="4206240" cy="3977640"/>
          </a:xfrm>
          <a:prstGeom prst="roundRect">
            <a:avLst>
              <a:gd fmla="val 2069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680960" y="19659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KEY SPECIFICATIONS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680960" y="239572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Controllers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9326880" y="239572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Mega 2560 + Uno R3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5"/>
          <p:cNvCxnSpPr/>
          <p:nvPr/>
        </p:nvCxnSpPr>
        <p:spPr>
          <a:xfrm>
            <a:off x="7680960" y="2743200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5"/>
          <p:cNvSpPr/>
          <p:nvPr/>
        </p:nvSpPr>
        <p:spPr>
          <a:xfrm>
            <a:off x="7680960" y="277063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Inter-MCU link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9326880" y="277063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UART · 9600 baud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5"/>
          <p:cNvCxnSpPr/>
          <p:nvPr/>
        </p:nvCxnSpPr>
        <p:spPr>
          <a:xfrm>
            <a:off x="7680960" y="3118104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5"/>
          <p:cNvSpPr/>
          <p:nvPr/>
        </p:nvSpPr>
        <p:spPr>
          <a:xfrm>
            <a:off x="7680960" y="314553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326880" y="314553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I2C LCD + Processing app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5"/>
          <p:cNvCxnSpPr/>
          <p:nvPr/>
        </p:nvCxnSpPr>
        <p:spPr>
          <a:xfrm>
            <a:off x="7680960" y="3493008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5"/>
          <p:cNvSpPr/>
          <p:nvPr/>
        </p:nvSpPr>
        <p:spPr>
          <a:xfrm>
            <a:off x="7680960" y="352044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326880" y="35204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HC-05 Bluetooth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7680960" y="3867912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7680960" y="389534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9326880" y="389534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Single SMPS 220 V→12 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5"/>
          <p:cNvCxnSpPr/>
          <p:nvPr/>
        </p:nvCxnSpPr>
        <p:spPr>
          <a:xfrm>
            <a:off x="7680960" y="4242816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5"/>
          <p:cNvSpPr/>
          <p:nvPr/>
        </p:nvSpPr>
        <p:spPr>
          <a:xfrm>
            <a:off x="7680960" y="427024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Game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326880" y="427024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120 s timer · lives · penalties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5"/>
          <p:cNvCxnSpPr/>
          <p:nvPr/>
        </p:nvCxnSpPr>
        <p:spPr>
          <a:xfrm>
            <a:off x="7680960" y="4617720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6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7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1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9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6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4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8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5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03  ·  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Theme &amp; Story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66928" y="1783080"/>
            <a:ext cx="6400800" cy="2057400"/>
          </a:xfrm>
          <a:prstGeom prst="roundRect">
            <a:avLst>
              <a:gd fmla="val 40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841248" y="2057400"/>
            <a:ext cx="640080" cy="64008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669" y="22238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1664208" y="202996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Reactor defusal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41248" y="2697480"/>
            <a:ext cx="5852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Inspired by the cooperative game Among Us, the player stabilises a sabotaged lunar reactor by filtering pure fuel cells (white &amp; black balls) from corrupted ones before the countdown expires. A correct cell advances the sequence; a wrong cell costs a life and adds a time penalty.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66928" y="4069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VISUAL IDENTITY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66928" y="4434840"/>
            <a:ext cx="1481328" cy="868680"/>
          </a:xfrm>
          <a:prstGeom prst="roundRect">
            <a:avLst>
              <a:gd fmla="val 7368" name="adj"/>
            </a:avLst>
          </a:prstGeom>
          <a:solidFill>
            <a:srgbClr val="1A3158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66928" y="5029200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Navy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157984" y="4434840"/>
            <a:ext cx="1481328" cy="868680"/>
          </a:xfrm>
          <a:prstGeom prst="roundRect">
            <a:avLst>
              <a:gd fmla="val 7368" name="adj"/>
            </a:avLst>
          </a:prstGeom>
          <a:solidFill>
            <a:srgbClr val="8893A8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2157984" y="5029200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32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322"/>
                </a:solidFill>
                <a:latin typeface="Calibri"/>
                <a:ea typeface="Calibri"/>
                <a:cs typeface="Calibri"/>
                <a:sym typeface="Calibri"/>
              </a:rPr>
              <a:t>Lunar grey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749040" y="4434840"/>
            <a:ext cx="1481328" cy="868680"/>
          </a:xfrm>
          <a:prstGeom prst="roundRect">
            <a:avLst>
              <a:gd fmla="val 7368" name="adj"/>
            </a:avLst>
          </a:prstGeom>
          <a:solidFill>
            <a:srgbClr val="2BD4E6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749040" y="5029200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32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322"/>
                </a:solidFill>
                <a:latin typeface="Calibri"/>
                <a:ea typeface="Calibri"/>
                <a:cs typeface="Calibri"/>
                <a:sym typeface="Calibri"/>
              </a:rPr>
              <a:t>Cyan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340096" y="4434840"/>
            <a:ext cx="1481328" cy="868680"/>
          </a:xfrm>
          <a:prstGeom prst="roundRect">
            <a:avLst>
              <a:gd fmla="val 7368" name="adj"/>
            </a:avLst>
          </a:prstGeom>
          <a:solidFill>
            <a:srgbClr val="FF5C6C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340096" y="5029200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360920" y="2148840"/>
            <a:ext cx="4297680" cy="2194560"/>
          </a:xfrm>
          <a:prstGeom prst="roundRect">
            <a:avLst>
              <a:gd fmla="val 3333" name="adj"/>
            </a:avLst>
          </a:prstGeom>
          <a:solidFill>
            <a:srgbClr val="14274A"/>
          </a:solidFill>
          <a:ln cap="flat" cmpd="sng" w="1905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7900" y="2112274"/>
            <a:ext cx="3108948" cy="2331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04  ·  GAMEPLAY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Plays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54584" y="2286000"/>
            <a:ext cx="2084832" cy="2331720"/>
          </a:xfrm>
          <a:prstGeom prst="roundRect">
            <a:avLst>
              <a:gd fmla="val 394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1249528" y="2560320"/>
            <a:ext cx="694944" cy="69494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0213" y="2741005"/>
            <a:ext cx="333573" cy="33357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2072488" y="24871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707E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2707E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19176" y="3401568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19176" y="3767328"/>
            <a:ext cx="17556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App creates a colour code &amp; starts a 120 s timer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1128" y="32004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2804008" y="2286000"/>
            <a:ext cx="2084832" cy="2331720"/>
          </a:xfrm>
          <a:prstGeom prst="roundRect">
            <a:avLst>
              <a:gd fmla="val 394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3498952" y="2560320"/>
            <a:ext cx="694944" cy="69494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9637" y="2741005"/>
            <a:ext cx="333573" cy="33357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4321912" y="24871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707E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2707E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968600" y="3401568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Input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968600" y="3767328"/>
            <a:ext cx="17556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Player enters the code on the control panel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0552" y="32004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5053432" y="2286000"/>
            <a:ext cx="2084832" cy="2331720"/>
          </a:xfrm>
          <a:prstGeom prst="roundRect">
            <a:avLst>
              <a:gd fmla="val 394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748376" y="2560320"/>
            <a:ext cx="694944" cy="69494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9061" y="2741005"/>
            <a:ext cx="333573" cy="33357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6571336" y="24871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707E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2707E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218024" y="3401568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Sort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218024" y="3767328"/>
            <a:ext cx="17556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IR sensor reads each ball at the inlet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9976" y="32004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7302856" y="2286000"/>
            <a:ext cx="2084832" cy="2331720"/>
          </a:xfrm>
          <a:prstGeom prst="roundRect">
            <a:avLst>
              <a:gd fmla="val 394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7997800" y="2560320"/>
            <a:ext cx="694944" cy="69494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78485" y="2741005"/>
            <a:ext cx="333573" cy="33357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8820760" y="24871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707E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2707E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467448" y="3401568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Act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467448" y="3767328"/>
            <a:ext cx="17556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Match → shoot; mismatch → reject &amp; retry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9400" y="32004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9552280" y="2286000"/>
            <a:ext cx="2084832" cy="2331720"/>
          </a:xfrm>
          <a:prstGeom prst="roundRect">
            <a:avLst>
              <a:gd fmla="val 394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10247224" y="2560320"/>
            <a:ext cx="694944" cy="69494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27909" y="2741005"/>
            <a:ext cx="333573" cy="33357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11070184" y="24871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707E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2707E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9716872" y="3401568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Loop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9716872" y="3767328"/>
            <a:ext cx="17556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Lift returns every ball to the start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66928" y="5029200"/>
            <a:ext cx="11057839" cy="457200"/>
          </a:xfrm>
          <a:prstGeom prst="roundRect">
            <a:avLst>
              <a:gd fmla="val 140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76656" y="5029200"/>
            <a:ext cx="108383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DEBF5"/>
                </a:solidFill>
                <a:latin typeface="Calibri"/>
                <a:ea typeface="Calibri"/>
                <a:cs typeface="Calibri"/>
                <a:sym typeface="Calibri"/>
              </a:rPr>
              <a:t>Correct sorting advances the defusal  ·  incorrect sorting deducts a life + time penalty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6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7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1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9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6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4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8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5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9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3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7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05  ·  ARCHITECTURE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The Closed Loop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432408" y="2971800"/>
            <a:ext cx="2286000" cy="1554480"/>
          </a:xfrm>
          <a:prstGeom prst="roundRect">
            <a:avLst>
              <a:gd fmla="val 529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2246224" y="3172968"/>
            <a:ext cx="658368" cy="65836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7399" y="3344144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1432408" y="386791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SORT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523848" y="417880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IR colour read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952848" y="2971800"/>
            <a:ext cx="2286000" cy="1554480"/>
          </a:xfrm>
          <a:prstGeom prst="roundRect">
            <a:avLst>
              <a:gd fmla="val 529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5766664" y="3172968"/>
            <a:ext cx="658368" cy="65836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7839" y="3344144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4952848" y="386791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SHOOT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044288" y="417880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DC motor fires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into funnel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8473288" y="2971800"/>
            <a:ext cx="2286000" cy="1554480"/>
          </a:xfrm>
          <a:prstGeom prst="roundRect">
            <a:avLst>
              <a:gd fmla="val 529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9287104" y="3172968"/>
            <a:ext cx="658368" cy="65836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58279" y="3344144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8473288" y="386791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LIFT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8564728" y="417880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Servo returns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ball to 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8"/>
          <p:cNvCxnSpPr/>
          <p:nvPr/>
        </p:nvCxnSpPr>
        <p:spPr>
          <a:xfrm>
            <a:off x="3718408" y="3749040"/>
            <a:ext cx="1234440" cy="0"/>
          </a:xfrm>
          <a:prstGeom prst="straightConnector1">
            <a:avLst/>
          </a:prstGeom>
          <a:noFill/>
          <a:ln cap="flat" cmpd="sng" w="31750">
            <a:solidFill>
              <a:srgbClr val="2BD4E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" name="Google Shape;247;p8"/>
          <p:cNvSpPr/>
          <p:nvPr/>
        </p:nvSpPr>
        <p:spPr>
          <a:xfrm>
            <a:off x="3718408" y="336499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E0A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54E0A0"/>
                </a:solidFill>
                <a:latin typeface="Trebuchet MS"/>
                <a:ea typeface="Trebuchet MS"/>
                <a:cs typeface="Trebuchet MS"/>
                <a:sym typeface="Trebuchet MS"/>
              </a:rPr>
              <a:t>MATCH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8"/>
          <p:cNvCxnSpPr/>
          <p:nvPr/>
        </p:nvCxnSpPr>
        <p:spPr>
          <a:xfrm>
            <a:off x="7238848" y="3749040"/>
            <a:ext cx="1234440" cy="0"/>
          </a:xfrm>
          <a:prstGeom prst="straightConnector1">
            <a:avLst/>
          </a:prstGeom>
          <a:noFill/>
          <a:ln cap="flat" cmpd="sng" w="31750">
            <a:solidFill>
              <a:srgbClr val="2BD4E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" name="Google Shape;249;p8"/>
          <p:cNvCxnSpPr/>
          <p:nvPr/>
        </p:nvCxnSpPr>
        <p:spPr>
          <a:xfrm rot="10800000">
            <a:off x="2575408" y="2286000"/>
            <a:ext cx="0" cy="685800"/>
          </a:xfrm>
          <a:prstGeom prst="straightConnector1">
            <a:avLst/>
          </a:prstGeom>
          <a:noFill/>
          <a:ln cap="flat" cmpd="sng" w="31750">
            <a:solidFill>
              <a:srgbClr val="2BD4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8"/>
          <p:cNvCxnSpPr/>
          <p:nvPr/>
        </p:nvCxnSpPr>
        <p:spPr>
          <a:xfrm rot="10800000">
            <a:off x="9616288" y="2286000"/>
            <a:ext cx="0" cy="685800"/>
          </a:xfrm>
          <a:prstGeom prst="straightConnector1">
            <a:avLst/>
          </a:prstGeom>
          <a:noFill/>
          <a:ln cap="flat" cmpd="sng" w="31750">
            <a:solidFill>
              <a:srgbClr val="2BD4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8"/>
          <p:cNvCxnSpPr/>
          <p:nvPr/>
        </p:nvCxnSpPr>
        <p:spPr>
          <a:xfrm>
            <a:off x="2575408" y="2286000"/>
            <a:ext cx="7040880" cy="0"/>
          </a:xfrm>
          <a:prstGeom prst="straightConnector1">
            <a:avLst/>
          </a:prstGeom>
          <a:noFill/>
          <a:ln cap="flat" cmpd="sng" w="31750">
            <a:solidFill>
              <a:srgbClr val="2BD4E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52" name="Google Shape;252;p8"/>
          <p:cNvSpPr/>
          <p:nvPr/>
        </p:nvSpPr>
        <p:spPr>
          <a:xfrm>
            <a:off x="2575408" y="190195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RE-ENTER LOOP — continuous, no manual reload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4952848" y="5303520"/>
            <a:ext cx="2286000" cy="566928"/>
          </a:xfrm>
          <a:prstGeom prst="roundRect">
            <a:avLst>
              <a:gd fmla="val 14516" name="adj"/>
            </a:avLst>
          </a:prstGeom>
          <a:solidFill>
            <a:srgbClr val="0C1730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4952848" y="5303520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RETURN PATH  ·  bypasses shooter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8"/>
          <p:cNvCxnSpPr/>
          <p:nvPr/>
        </p:nvCxnSpPr>
        <p:spPr>
          <a:xfrm>
            <a:off x="2575408" y="4526280"/>
            <a:ext cx="0" cy="1060704"/>
          </a:xfrm>
          <a:prstGeom prst="straightConnector1">
            <a:avLst/>
          </a:prstGeom>
          <a:noFill/>
          <a:ln cap="flat" cmpd="sng" w="25400">
            <a:solidFill>
              <a:srgbClr val="FF5C6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6" name="Google Shape;256;p8"/>
          <p:cNvCxnSpPr/>
          <p:nvPr/>
        </p:nvCxnSpPr>
        <p:spPr>
          <a:xfrm>
            <a:off x="2575408" y="5586984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5C6C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57" name="Google Shape;257;p8"/>
          <p:cNvSpPr/>
          <p:nvPr/>
        </p:nvSpPr>
        <p:spPr>
          <a:xfrm>
            <a:off x="2392528" y="5257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6C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5C6C"/>
                </a:solidFill>
                <a:latin typeface="Trebuchet MS"/>
                <a:ea typeface="Trebuchet MS"/>
                <a:cs typeface="Trebuchet MS"/>
                <a:sym typeface="Trebuchet MS"/>
              </a:rPr>
              <a:t>MISMATCH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8"/>
          <p:cNvCxnSpPr/>
          <p:nvPr/>
        </p:nvCxnSpPr>
        <p:spPr>
          <a:xfrm>
            <a:off x="7238848" y="5586984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5C6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9" name="Google Shape;259;p8"/>
          <p:cNvCxnSpPr/>
          <p:nvPr/>
        </p:nvCxnSpPr>
        <p:spPr>
          <a:xfrm rot="10800000">
            <a:off x="9616288" y="4526280"/>
            <a:ext cx="0" cy="1060704"/>
          </a:xfrm>
          <a:prstGeom prst="straightConnector1">
            <a:avLst/>
          </a:prstGeom>
          <a:noFill/>
          <a:ln cap="flat" cmpd="sng" w="25400">
            <a:solidFill>
              <a:srgbClr val="FF5C6C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6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7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1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9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6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06  ·  DESIGN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CAD Design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3826937" y="1696200"/>
            <a:ext cx="5038200" cy="3867900"/>
          </a:xfrm>
          <a:prstGeom prst="roundRect">
            <a:avLst>
              <a:gd fmla="val 1891" name="adj"/>
            </a:avLst>
          </a:prstGeom>
          <a:solidFill>
            <a:srgbClr val="14274A"/>
          </a:solidFill>
          <a:ln cap="flat" cmpd="sng" w="1905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3826925" y="5790450"/>
            <a:ext cx="5038200" cy="420600"/>
          </a:xfrm>
          <a:prstGeom prst="roundRect">
            <a:avLst>
              <a:gd fmla="val 1521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3506933" y="5790443"/>
            <a:ext cx="5038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DEBF5"/>
                </a:solidFill>
                <a:latin typeface="Calibri"/>
                <a:ea typeface="Calibri"/>
                <a:cs typeface="Calibri"/>
                <a:sym typeface="Calibri"/>
              </a:rPr>
              <a:t>Fully integrated assembly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3826930" y="6126450"/>
            <a:ext cx="5257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Designed in CAD; laser-cut MDF chassis with 3D-printed marble tracks and funnels.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8575" y="1859575"/>
            <a:ext cx="4754875" cy="3541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07  ·  DESIGN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The Real Prototype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566925" y="1920250"/>
            <a:ext cx="8485500" cy="3776400"/>
          </a:xfrm>
          <a:prstGeom prst="roundRect">
            <a:avLst>
              <a:gd fmla="val 1937" name="adj"/>
            </a:avLst>
          </a:prstGeom>
          <a:solidFill>
            <a:srgbClr val="0C1730"/>
          </a:solidFill>
          <a:ln cap="flat" cmpd="sng" w="19050">
            <a:solidFill>
              <a:srgbClr val="12707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750" y="1504636"/>
            <a:ext cx="5879852" cy="440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08  ·  MECHANISMS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Sorting Mechanism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66928" y="1783080"/>
            <a:ext cx="822960" cy="82296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898" y="199705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1"/>
          <p:cNvSpPr/>
          <p:nvPr/>
        </p:nvSpPr>
        <p:spPr>
          <a:xfrm>
            <a:off x="566928" y="2788920"/>
            <a:ext cx="5760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Entry point of the loop. A presence IR detects the ball; the colour IR reads white vs black; servos route and release the ball.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566928" y="4069080"/>
            <a:ext cx="5760720" cy="512064"/>
          </a:xfrm>
          <a:prstGeom prst="roundRect">
            <a:avLst>
              <a:gd fmla="val 1071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749808" y="4069080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Holder servo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2852928" y="4069080"/>
            <a:ext cx="3291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Home 180° → Reach 90°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66928" y="4672584"/>
            <a:ext cx="5760720" cy="512064"/>
          </a:xfrm>
          <a:prstGeom prst="roundRect">
            <a:avLst>
              <a:gd fmla="val 1071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749808" y="4672584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Path servo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2852928" y="4672584"/>
            <a:ext cx="3291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Home 105° / Shooter 142° / Return 97°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66928" y="5276088"/>
            <a:ext cx="5760720" cy="512064"/>
          </a:xfrm>
          <a:prstGeom prst="roundRect">
            <a:avLst>
              <a:gd fmla="val 1071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749808" y="5276088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Colour sensor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2852928" y="5276088"/>
            <a:ext cx="3291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Emitter power-gated per read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6629400" y="1783080"/>
            <a:ext cx="4983480" cy="3931920"/>
          </a:xfrm>
          <a:prstGeom prst="roundRect">
            <a:avLst>
              <a:gd fmla="val 1860" name="adj"/>
            </a:avLst>
          </a:prstGeom>
          <a:solidFill>
            <a:srgbClr val="0C1730"/>
          </a:solidFill>
          <a:ln cap="flat" cmpd="sng" w="19050">
            <a:solidFill>
              <a:srgbClr val="12707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6150" y="1913575"/>
            <a:ext cx="4754875" cy="3550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09  ·  MECHANISMS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Shooting Mechanism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566928" y="1783080"/>
            <a:ext cx="822960" cy="82296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898" y="199705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2"/>
          <p:cNvSpPr/>
          <p:nvPr/>
        </p:nvSpPr>
        <p:spPr>
          <a:xfrm>
            <a:off x="566928" y="2788920"/>
            <a:ext cx="5760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On a match the ball rolls to the barrel; a DC motor driven by an L298N fires it into the funnel, then retracts to a limit switch to re-home.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66928" y="4069080"/>
            <a:ext cx="5760720" cy="512064"/>
          </a:xfrm>
          <a:prstGeom prst="roundRect">
            <a:avLst>
              <a:gd fmla="val 1071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749808" y="4069080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Driver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2852928" y="4069080"/>
            <a:ext cx="3291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L298N H-bridge (PWM)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66928" y="4672584"/>
            <a:ext cx="5760720" cy="512064"/>
          </a:xfrm>
          <a:prstGeom prst="roundRect">
            <a:avLst>
              <a:gd fmla="val 1071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749808" y="4672584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Fire / retract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2852928" y="4672584"/>
            <a:ext cx="3291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PWM 90 / 35 of 255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566928" y="5276088"/>
            <a:ext cx="5760720" cy="512064"/>
          </a:xfrm>
          <a:prstGeom prst="roundRect">
            <a:avLst>
              <a:gd fmla="val 1071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749808" y="5276088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Target range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2852928" y="5276088"/>
            <a:ext cx="3291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≈ 30 cm @ 45° launch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629400" y="1783080"/>
            <a:ext cx="4983480" cy="3931920"/>
          </a:xfrm>
          <a:prstGeom prst="roundRect">
            <a:avLst>
              <a:gd fmla="val 1860" name="adj"/>
            </a:avLst>
          </a:prstGeom>
          <a:solidFill>
            <a:srgbClr val="FFFFFF"/>
          </a:solidFill>
          <a:ln cap="flat" cmpd="sng" w="19050">
            <a:solidFill>
              <a:srgbClr val="12707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0" name="Google Shape;35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888" y="1850563"/>
            <a:ext cx="5660500" cy="379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10  ·  MECHANISMS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Lifting Mechanism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566928" y="1783080"/>
            <a:ext cx="822960" cy="82296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898" y="199705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3"/>
          <p:cNvSpPr/>
          <p:nvPr/>
        </p:nvSpPr>
        <p:spPr>
          <a:xfrm>
            <a:off x="566928" y="2788920"/>
            <a:ext cx="5760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Common return stage for both branches. A lift IR detects the ball; the lift servo raises it and returns it to the sorting stage, closing the loop.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566928" y="4069080"/>
            <a:ext cx="5760720" cy="512064"/>
          </a:xfrm>
          <a:prstGeom prst="roundRect">
            <a:avLst>
              <a:gd fmla="val 1071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749808" y="4069080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Lift servo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2852928" y="4069080"/>
            <a:ext cx="3291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Rest 0° → Lift 95°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566928" y="4672584"/>
            <a:ext cx="5760720" cy="512064"/>
          </a:xfrm>
          <a:prstGeom prst="roundRect">
            <a:avLst>
              <a:gd fmla="val 1071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749808" y="4672584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2852928" y="4672584"/>
            <a:ext cx="3291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IR at elevator base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566928" y="5276088"/>
            <a:ext cx="5760720" cy="512064"/>
          </a:xfrm>
          <a:prstGeom prst="roundRect">
            <a:avLst>
              <a:gd fmla="val 10714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749808" y="5276088"/>
            <a:ext cx="2194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2852928" y="5276088"/>
            <a:ext cx="3291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Guarantees every ball re-enters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6629400" y="1783080"/>
            <a:ext cx="4983480" cy="3931920"/>
          </a:xfrm>
          <a:prstGeom prst="roundRect">
            <a:avLst>
              <a:gd fmla="val 1860" name="adj"/>
            </a:avLst>
          </a:prstGeom>
          <a:solidFill>
            <a:schemeClr val="lt1"/>
          </a:solidFill>
          <a:ln cap="flat" cmpd="sng" w="19050">
            <a:solidFill>
              <a:srgbClr val="12707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8" name="Google Shape;37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0435" y="2169225"/>
            <a:ext cx="4201400" cy="315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11  ·  ELECTRONICS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Power Architecture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566928" y="2834640"/>
            <a:ext cx="2103120" cy="1097280"/>
          </a:xfrm>
          <a:prstGeom prst="roundRect">
            <a:avLst>
              <a:gd fmla="val 7500" name="adj"/>
            </a:avLst>
          </a:prstGeom>
          <a:solidFill>
            <a:srgbClr val="1A3158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749808" y="3090672"/>
            <a:ext cx="585216" cy="585216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964" y="3242828"/>
            <a:ext cx="280904" cy="28090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4"/>
          <p:cNvSpPr/>
          <p:nvPr/>
        </p:nvSpPr>
        <p:spPr>
          <a:xfrm>
            <a:off x="1435608" y="3035808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SMPS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749808" y="354787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220 V AC → 12 V DC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14"/>
          <p:cNvCxnSpPr/>
          <p:nvPr/>
        </p:nvCxnSpPr>
        <p:spPr>
          <a:xfrm>
            <a:off x="2670048" y="338328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2BD4E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9" name="Google Shape;399;p14"/>
          <p:cNvSpPr/>
          <p:nvPr/>
        </p:nvSpPr>
        <p:spPr>
          <a:xfrm>
            <a:off x="3172968" y="2103120"/>
            <a:ext cx="118872" cy="2926080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2715768" y="17830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12 V BUS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14"/>
          <p:cNvCxnSpPr/>
          <p:nvPr/>
        </p:nvCxnSpPr>
        <p:spPr>
          <a:xfrm>
            <a:off x="3291840" y="2596896"/>
            <a:ext cx="521208" cy="0"/>
          </a:xfrm>
          <a:prstGeom prst="straightConnector1">
            <a:avLst/>
          </a:prstGeom>
          <a:noFill/>
          <a:ln cap="flat" cmpd="sng" w="25400">
            <a:solidFill>
              <a:srgbClr val="2BD4E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2" name="Google Shape;402;p14"/>
          <p:cNvSpPr/>
          <p:nvPr/>
        </p:nvSpPr>
        <p:spPr>
          <a:xfrm>
            <a:off x="3813048" y="2286000"/>
            <a:ext cx="4937760" cy="777240"/>
          </a:xfrm>
          <a:prstGeom prst="roundRect">
            <a:avLst>
              <a:gd fmla="val 10588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3977640" y="2432304"/>
            <a:ext cx="475488" cy="47548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4" name="Google Shape;4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1267" y="2555931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4"/>
          <p:cNvSpPr/>
          <p:nvPr/>
        </p:nvSpPr>
        <p:spPr>
          <a:xfrm>
            <a:off x="4562856" y="239572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L298N → DC motor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4562856" y="27066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Shooter at 12 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14"/>
          <p:cNvCxnSpPr/>
          <p:nvPr/>
        </p:nvCxnSpPr>
        <p:spPr>
          <a:xfrm>
            <a:off x="3291840" y="3557016"/>
            <a:ext cx="521208" cy="0"/>
          </a:xfrm>
          <a:prstGeom prst="straightConnector1">
            <a:avLst/>
          </a:prstGeom>
          <a:noFill/>
          <a:ln cap="flat" cmpd="sng" w="25400">
            <a:solidFill>
              <a:srgbClr val="2BD4E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8" name="Google Shape;408;p14"/>
          <p:cNvSpPr/>
          <p:nvPr/>
        </p:nvSpPr>
        <p:spPr>
          <a:xfrm>
            <a:off x="3813048" y="3246120"/>
            <a:ext cx="4937760" cy="777240"/>
          </a:xfrm>
          <a:prstGeom prst="roundRect">
            <a:avLst>
              <a:gd fmla="val 10588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3977640" y="3392424"/>
            <a:ext cx="475488" cy="47548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1267" y="3516051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4"/>
          <p:cNvSpPr/>
          <p:nvPr/>
        </p:nvSpPr>
        <p:spPr>
          <a:xfrm>
            <a:off x="4562856" y="335584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Buck converter → servos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4562856" y="366674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Stepped-down servo rail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14"/>
          <p:cNvCxnSpPr/>
          <p:nvPr/>
        </p:nvCxnSpPr>
        <p:spPr>
          <a:xfrm>
            <a:off x="3291840" y="4517136"/>
            <a:ext cx="521208" cy="0"/>
          </a:xfrm>
          <a:prstGeom prst="straightConnector1">
            <a:avLst/>
          </a:prstGeom>
          <a:noFill/>
          <a:ln cap="flat" cmpd="sng" w="25400">
            <a:solidFill>
              <a:srgbClr val="2BD4E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4" name="Google Shape;414;p14"/>
          <p:cNvSpPr/>
          <p:nvPr/>
        </p:nvSpPr>
        <p:spPr>
          <a:xfrm>
            <a:off x="3813048" y="4206240"/>
            <a:ext cx="4937760" cy="777240"/>
          </a:xfrm>
          <a:prstGeom prst="roundRect">
            <a:avLst>
              <a:gd fmla="val 10588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3977640" y="4352544"/>
            <a:ext cx="475488" cy="47548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6" name="Google Shape;41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01267" y="4476171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4"/>
          <p:cNvSpPr/>
          <p:nvPr/>
        </p:nvSpPr>
        <p:spPr>
          <a:xfrm>
            <a:off x="4562856" y="431596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9 V regulator → Uno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4562856" y="462686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Logic supply (VIN)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10881360" y="2103120"/>
            <a:ext cx="0" cy="0"/>
          </a:xfrm>
          <a:prstGeom prst="roundRect">
            <a:avLst>
              <a:gd fmla="val 1666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566928" y="525780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DEBF5"/>
                </a:solidFill>
                <a:latin typeface="Calibri"/>
                <a:ea typeface="Calibri"/>
                <a:cs typeface="Calibri"/>
                <a:sym typeface="Calibri"/>
              </a:rPr>
              <a:t>Two custom shield-PCBs (Uno + Mega) seat the boards on pin headers — no breadboards. Exceeds the ≥ 1 PCB requirement.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566928" y="18288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Single source · common ground · hidden wiring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6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7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1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9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6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12  ·  ELECTRONICS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 &amp; Communication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566928" y="1965960"/>
            <a:ext cx="5074920" cy="1828800"/>
          </a:xfrm>
          <a:prstGeom prst="roundRect">
            <a:avLst>
              <a:gd fmla="val 45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8" name="Google Shape;4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381" y="24067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5"/>
          <p:cNvSpPr/>
          <p:nvPr/>
        </p:nvSpPr>
        <p:spPr>
          <a:xfrm>
            <a:off x="1618488" y="22128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Arduino Mega  ·  MASTER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822960" y="288036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UI, game logic, verification &amp; comms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LCD · 4 buttons · HC-05 · BT-state pin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6537960" y="1965960"/>
            <a:ext cx="5074920" cy="1828800"/>
          </a:xfrm>
          <a:prstGeom prst="roundRect">
            <a:avLst>
              <a:gd fmla="val 45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6793992" y="2240280"/>
            <a:ext cx="640080" cy="64008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3" name="Google Shape;4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0413" y="24067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5"/>
          <p:cNvSpPr/>
          <p:nvPr/>
        </p:nvSpPr>
        <p:spPr>
          <a:xfrm>
            <a:off x="7589520" y="22128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Arduino Uno  ·  SLAVE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6793992" y="288036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Sensing &amp; actuation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5× IR · 3× servo · L298N + DC motor · limit switch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5821528" y="2468880"/>
            <a:ext cx="548640" cy="548640"/>
          </a:xfrm>
          <a:prstGeom prst="ellipse">
            <a:avLst/>
          </a:prstGeom>
          <a:solidFill>
            <a:srgbClr val="0C1730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7" name="Google Shape;44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4174" y="261152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5"/>
          <p:cNvSpPr/>
          <p:nvPr/>
        </p:nvSpPr>
        <p:spPr>
          <a:xfrm>
            <a:off x="5318608" y="303580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UART · 9600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566928" y="4114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MESSAGE PROTOCOL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566928" y="4526280"/>
            <a:ext cx="1828800" cy="310896"/>
          </a:xfrm>
          <a:prstGeom prst="rect">
            <a:avLst/>
          </a:prstGeom>
          <a:solidFill>
            <a:srgbClr val="0C1730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676656" y="452628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Mega → Uno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2395728" y="4526280"/>
            <a:ext cx="1554480" cy="310896"/>
          </a:xfrm>
          <a:prstGeom prst="rect">
            <a:avLst/>
          </a:prstGeom>
          <a:solidFill>
            <a:srgbClr val="0C1730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2505456" y="452628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8DEBF5"/>
                </a:solidFill>
                <a:latin typeface="Trebuchet MS"/>
                <a:ea typeface="Trebuchet MS"/>
                <a:cs typeface="Trebuchet MS"/>
                <a:sym typeface="Trebuchet MS"/>
              </a:rPr>
              <a:t>“WBW…”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3950208" y="4526280"/>
            <a:ext cx="2331720" cy="310896"/>
          </a:xfrm>
          <a:prstGeom prst="rect">
            <a:avLst/>
          </a:prstGeom>
          <a:solidFill>
            <a:srgbClr val="0C1730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4059936" y="4526280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Player 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566928" y="4837176"/>
            <a:ext cx="1828800" cy="310896"/>
          </a:xfrm>
          <a:prstGeom prst="rect">
            <a:avLst/>
          </a:prstGeom>
          <a:solidFill>
            <a:srgbClr val="14274A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676656" y="483717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Mega → Uno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2395728" y="4837176"/>
            <a:ext cx="1554480" cy="310896"/>
          </a:xfrm>
          <a:prstGeom prst="rect">
            <a:avLst/>
          </a:prstGeom>
          <a:solidFill>
            <a:srgbClr val="14274A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2505456" y="4837176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8DEBF5"/>
                </a:solidFill>
                <a:latin typeface="Trebuchet MS"/>
                <a:ea typeface="Trebuchet MS"/>
                <a:cs typeface="Trebuchet MS"/>
                <a:sym typeface="Trebuchet MS"/>
              </a:rPr>
              <a:t>“R”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3950208" y="4837176"/>
            <a:ext cx="2331720" cy="310896"/>
          </a:xfrm>
          <a:prstGeom prst="rect">
            <a:avLst/>
          </a:prstGeom>
          <a:solidFill>
            <a:srgbClr val="14274A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4059936" y="4837176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566928" y="5148072"/>
            <a:ext cx="1828800" cy="310896"/>
          </a:xfrm>
          <a:prstGeom prst="rect">
            <a:avLst/>
          </a:prstGeom>
          <a:solidFill>
            <a:srgbClr val="0C1730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676656" y="514807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Uno → Mega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2395728" y="5148072"/>
            <a:ext cx="1554480" cy="310896"/>
          </a:xfrm>
          <a:prstGeom prst="rect">
            <a:avLst/>
          </a:prstGeom>
          <a:solidFill>
            <a:srgbClr val="0C1730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2505456" y="514807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8DEBF5"/>
                </a:solidFill>
                <a:latin typeface="Trebuchet MS"/>
                <a:ea typeface="Trebuchet MS"/>
                <a:cs typeface="Trebuchet MS"/>
                <a:sym typeface="Trebuchet MS"/>
              </a:rPr>
              <a:t>“D”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3950208" y="5148072"/>
            <a:ext cx="2331720" cy="310896"/>
          </a:xfrm>
          <a:prstGeom prst="rect">
            <a:avLst/>
          </a:prstGeom>
          <a:solidFill>
            <a:srgbClr val="0C1730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4059936" y="5148072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Tasks complete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566928" y="5458968"/>
            <a:ext cx="1828800" cy="310896"/>
          </a:xfrm>
          <a:prstGeom prst="rect">
            <a:avLst/>
          </a:prstGeom>
          <a:solidFill>
            <a:srgbClr val="14274A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676656" y="545896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App → Mega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2395728" y="5458968"/>
            <a:ext cx="1554480" cy="310896"/>
          </a:xfrm>
          <a:prstGeom prst="rect">
            <a:avLst/>
          </a:prstGeom>
          <a:solidFill>
            <a:srgbClr val="14274A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2505456" y="545896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8DEBF5"/>
                </a:solidFill>
                <a:latin typeface="Trebuchet MS"/>
                <a:ea typeface="Trebuchet MS"/>
                <a:cs typeface="Trebuchet MS"/>
                <a:sym typeface="Trebuchet MS"/>
              </a:rPr>
              <a:t>“W” / “B”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3950208" y="5458968"/>
            <a:ext cx="2331720" cy="310896"/>
          </a:xfrm>
          <a:prstGeom prst="rect">
            <a:avLst/>
          </a:prstGeom>
          <a:solidFill>
            <a:srgbClr val="14274A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4059936" y="5458968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Target code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566928" y="5769864"/>
            <a:ext cx="1828800" cy="310896"/>
          </a:xfrm>
          <a:prstGeom prst="rect">
            <a:avLst/>
          </a:prstGeom>
          <a:solidFill>
            <a:srgbClr val="0C1730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676656" y="576986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Mega → App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2395728" y="5769864"/>
            <a:ext cx="1554480" cy="310896"/>
          </a:xfrm>
          <a:prstGeom prst="rect">
            <a:avLst/>
          </a:prstGeom>
          <a:solidFill>
            <a:srgbClr val="0C1730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2505456" y="5769864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8DEBF5"/>
                </a:solidFill>
                <a:latin typeface="Trebuchet MS"/>
                <a:ea typeface="Trebuchet MS"/>
                <a:cs typeface="Trebuchet MS"/>
                <a:sym typeface="Trebuchet MS"/>
              </a:rPr>
              <a:t>“C” / “W”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3950208" y="5769864"/>
            <a:ext cx="2331720" cy="310896"/>
          </a:xfrm>
          <a:prstGeom prst="rect">
            <a:avLst/>
          </a:prstGeom>
          <a:solidFill>
            <a:srgbClr val="0C1730"/>
          </a:solidFill>
          <a:ln cap="flat" cmpd="sng" w="9525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4059936" y="5769864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6537960" y="4114800"/>
            <a:ext cx="5074920" cy="1691640"/>
          </a:xfrm>
          <a:prstGeom prst="roundRect">
            <a:avLst>
              <a:gd fmla="val 4865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6793992" y="4370832"/>
            <a:ext cx="548640" cy="54864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2" name="Google Shape;48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6638" y="451347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5"/>
          <p:cNvSpPr/>
          <p:nvPr/>
        </p:nvSpPr>
        <p:spPr>
          <a:xfrm>
            <a:off x="7498080" y="438912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Built-in safety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6793992" y="484632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Bluetooth-disconnect failsafe, remote app reset, and a reset routine that stops the motor, homes all servos, and clears the active sequence.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6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7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1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9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6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4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8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5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9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3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7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4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8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6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6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6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6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13  ·  INTERFACE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Mobile App &amp; Bluetooth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566928" y="1783080"/>
            <a:ext cx="2743200" cy="3931920"/>
          </a:xfrm>
          <a:prstGeom prst="roundRect">
            <a:avLst>
              <a:gd fmla="val 2667" name="adj"/>
            </a:avLst>
          </a:prstGeom>
          <a:solidFill>
            <a:srgbClr val="0C1730"/>
          </a:solidFill>
          <a:ln cap="flat" cmpd="sng" w="19050">
            <a:solidFill>
              <a:srgbClr val="12707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0" name="Google Shape;5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9908" y="292608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6"/>
          <p:cNvSpPr/>
          <p:nvPr/>
        </p:nvSpPr>
        <p:spPr>
          <a:xfrm>
            <a:off x="749808" y="385876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App screens: code, countdown, lives, 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713232" y="1929384"/>
            <a:ext cx="1143000" cy="329184"/>
          </a:xfrm>
          <a:prstGeom prst="roundRect">
            <a:avLst>
              <a:gd fmla="val 13889" name="adj"/>
            </a:avLst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6"/>
          <p:cNvSpPr/>
          <p:nvPr/>
        </p:nvSpPr>
        <p:spPr>
          <a:xfrm>
            <a:off x="713232" y="1929384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1222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91222"/>
                </a:solidFill>
                <a:latin typeface="Trebuchet MS"/>
                <a:ea typeface="Trebuchet MS"/>
                <a:cs typeface="Trebuchet MS"/>
                <a:sym typeface="Trebuchet MS"/>
              </a:rPr>
              <a:t>SCREENSHOT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3657600" y="2011680"/>
            <a:ext cx="566928" cy="56692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5" name="Google Shape;50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5001" y="215908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6"/>
          <p:cNvSpPr/>
          <p:nvPr/>
        </p:nvSpPr>
        <p:spPr>
          <a:xfrm>
            <a:off x="4425696" y="1975104"/>
            <a:ext cx="7004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Companion app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4425696" y="2286000"/>
            <a:ext cx="70043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Generates the colour sequence, runs the 120 s countdown, tracks lives &amp; penalties.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3657600" y="3017520"/>
            <a:ext cx="566928" cy="56692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9" name="Google Shape;50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5001" y="316492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6"/>
          <p:cNvSpPr/>
          <p:nvPr/>
        </p:nvSpPr>
        <p:spPr>
          <a:xfrm>
            <a:off x="4425696" y="2980944"/>
            <a:ext cx="7004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HC-05 link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4425696" y="3291840"/>
            <a:ext cx="70043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Wireless serial pairing to the Mega for real-time, responsive control.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3657600" y="4023360"/>
            <a:ext cx="566928" cy="566928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3" name="Google Shape;51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05001" y="417076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6"/>
          <p:cNvSpPr/>
          <p:nvPr/>
        </p:nvSpPr>
        <p:spPr>
          <a:xfrm>
            <a:off x="4425696" y="3986784"/>
            <a:ext cx="7004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Second interface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4425696" y="4297680"/>
            <a:ext cx="70043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Pairs with the on-board LCD to present two distinct information sets.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3657600" y="5212080"/>
            <a:ext cx="7772400" cy="457200"/>
          </a:xfrm>
          <a:prstGeom prst="roundRect">
            <a:avLst>
              <a:gd fmla="val 140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3767328" y="5212080"/>
            <a:ext cx="7552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EB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DEBF5"/>
                </a:solidFill>
                <a:latin typeface="Calibri"/>
                <a:ea typeface="Calibri"/>
                <a:cs typeface="Calibri"/>
                <a:sym typeface="Calibri"/>
              </a:rPr>
              <a:t>Status: simulation-tested — final HC-05 pairing &amp; serial integration in progress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7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7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7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7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14  ·  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Engineering Rigor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566928" y="178308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Every actuator is sized with the same chain: trapezoidal profile → inertia → phase torques → RMS → safety factor (1.5).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636880" y="246888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7"/>
          <p:cNvSpPr/>
          <p:nvPr/>
        </p:nvSpPr>
        <p:spPr>
          <a:xfrm>
            <a:off x="865480" y="265176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1.84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865480" y="33375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m/s launch speed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3407512" y="246888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7"/>
          <p:cNvSpPr/>
          <p:nvPr/>
        </p:nvSpPr>
        <p:spPr>
          <a:xfrm>
            <a:off x="3636112" y="265176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30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3636112" y="33375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cm projectile range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6178144" y="246888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7"/>
          <p:cNvSpPr/>
          <p:nvPr/>
        </p:nvSpPr>
        <p:spPr>
          <a:xfrm>
            <a:off x="6406744" y="265176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1.5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6406744" y="33375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safety factor (SF)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8948776" y="246888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7"/>
          <p:cNvSpPr/>
          <p:nvPr/>
        </p:nvSpPr>
        <p:spPr>
          <a:xfrm>
            <a:off x="9177376" y="265176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4.189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9177376" y="33375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rad/s servo ωₘₐₓ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566928" y="4160520"/>
            <a:ext cx="10607040" cy="1600200"/>
          </a:xfrm>
          <a:prstGeom prst="roundRect">
            <a:avLst>
              <a:gd fmla="val 5143" name="adj"/>
            </a:avLst>
          </a:prstGeom>
          <a:solidFill>
            <a:srgbClr val="0C1730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7"/>
          <p:cNvSpPr/>
          <p:nvPr/>
        </p:nvSpPr>
        <p:spPr>
          <a:xfrm>
            <a:off x="841248" y="431596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CORE FORMULAS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841248" y="4681728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EEF4FB"/>
                </a:solidFill>
                <a:latin typeface="Consolas"/>
                <a:ea typeface="Consolas"/>
                <a:cs typeface="Consolas"/>
                <a:sym typeface="Consolas"/>
              </a:rPr>
              <a:t>v = √(vₓ² + v_y²)        v_y = √(2·g·ΔH)        t_f = (v_y + √(v_y² + 2·g·y₀)) / 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841248" y="502920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EEF4FB"/>
                </a:solidFill>
                <a:latin typeface="Consolas"/>
                <a:ea typeface="Consolas"/>
                <a:cs typeface="Consolas"/>
                <a:sym typeface="Consolas"/>
              </a:rPr>
              <a:t>J = ⅓·m·L² (rod) + m·L² (ball)        T = J·α + g·(m·L/2 + m·L)        T_rms = √(Σ Tᵢ²·tᵢ / 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841248" y="5376672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EEF4FB"/>
                </a:solidFill>
                <a:latin typeface="Consolas"/>
                <a:ea typeface="Consolas"/>
                <a:cs typeface="Consolas"/>
                <a:sym typeface="Consolas"/>
              </a:rPr>
              <a:t>DC motor (L298N):   I = T / K_t        V = I·Rₐ + K_e·ω        PWM = round((V/12)·255)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8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8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8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8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8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15  ·  ITERATION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→ Solution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566928" y="1783080"/>
            <a:ext cx="731520" cy="731520"/>
          </a:xfrm>
          <a:prstGeom prst="ellipse">
            <a:avLst/>
          </a:prstGeom>
          <a:solidFill>
            <a:srgbClr val="FF5C6C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5" name="Google Shape;5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123" y="197327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18"/>
          <p:cNvSpPr/>
          <p:nvPr/>
        </p:nvSpPr>
        <p:spPr>
          <a:xfrm>
            <a:off x="1481328" y="181051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Sharp MDF edges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1481328" y="221284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Laser-cut MDF leaves hard, sharp edges — unacceptable for a toy aimed at children aged 2–10.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566928" y="2971800"/>
            <a:ext cx="5212080" cy="2697480"/>
          </a:xfrm>
          <a:prstGeom prst="roundRect">
            <a:avLst>
              <a:gd fmla="val 2712" name="adj"/>
            </a:avLst>
          </a:prstGeom>
          <a:solidFill>
            <a:srgbClr val="0C1730"/>
          </a:solidFill>
          <a:ln cap="flat" cmpd="sng" w="19050">
            <a:solidFill>
              <a:srgbClr val="12707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713232" y="3118104"/>
            <a:ext cx="1143000" cy="329184"/>
          </a:xfrm>
          <a:prstGeom prst="roundRect">
            <a:avLst>
              <a:gd fmla="val 13889" name="adj"/>
            </a:avLst>
          </a:prstGeom>
          <a:solidFill>
            <a:srgbClr val="FF5C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713232" y="3118104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1222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91222"/>
                </a:solidFill>
                <a:latin typeface="Trebuchet MS"/>
                <a:ea typeface="Trebuchet MS"/>
                <a:cs typeface="Trebuchet MS"/>
                <a:sym typeface="Trebuchet MS"/>
              </a:rPr>
              <a:t>BEFORE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6355080" y="2971800"/>
            <a:ext cx="5257800" cy="2697600"/>
          </a:xfrm>
          <a:prstGeom prst="roundRect">
            <a:avLst>
              <a:gd fmla="val 2712" name="adj"/>
            </a:avLst>
          </a:prstGeom>
          <a:solidFill>
            <a:srgbClr val="0C1730"/>
          </a:solidFill>
          <a:ln cap="flat" cmpd="sng" w="19050">
            <a:solidFill>
              <a:srgbClr val="12707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6501384" y="3118104"/>
            <a:ext cx="1143000" cy="329100"/>
          </a:xfrm>
          <a:prstGeom prst="roundRect">
            <a:avLst>
              <a:gd fmla="val 13889" name="adj"/>
            </a:avLst>
          </a:prstGeom>
          <a:solidFill>
            <a:srgbClr val="54E0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6501384" y="3118104"/>
            <a:ext cx="114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1222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91222"/>
                </a:solidFill>
                <a:latin typeface="Trebuchet MS"/>
                <a:ea typeface="Trebuchet MS"/>
                <a:cs typeface="Trebuchet MS"/>
                <a:sym typeface="Trebuchet MS"/>
              </a:rPr>
              <a:t>AFTER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5806440" y="4069080"/>
            <a:ext cx="502800" cy="502800"/>
          </a:xfrm>
          <a:prstGeom prst="ellipse">
            <a:avLst/>
          </a:prstGeom>
          <a:solidFill>
            <a:srgbClr val="54E0A0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5" name="Google Shape;5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4160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18"/>
          <p:cNvSpPr/>
          <p:nvPr/>
        </p:nvSpPr>
        <p:spPr>
          <a:xfrm>
            <a:off x="566928" y="58064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E0A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4E0A0"/>
                </a:solidFill>
                <a:latin typeface="Calibri"/>
                <a:ea typeface="Calibri"/>
                <a:cs typeface="Calibri"/>
                <a:sym typeface="Calibri"/>
              </a:rPr>
              <a:t>SOLUTION  ·  3D-printed edge covers on exposed edges only (not a full enclosure) — removes every reachable sharp edge while keeping the mechanisms visible.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7" name="Google Shape;57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5363" y="2639300"/>
            <a:ext cx="4100775" cy="3221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1324" y="3447300"/>
            <a:ext cx="3535516" cy="19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9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9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9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9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9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16  ·  ITERATION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9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More Problems Solved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9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9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566928" y="2011680"/>
            <a:ext cx="10607040" cy="1737360"/>
          </a:xfrm>
          <a:prstGeom prst="roundRect">
            <a:avLst>
              <a:gd fmla="val 473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9"/>
          <p:cNvSpPr/>
          <p:nvPr/>
        </p:nvSpPr>
        <p:spPr>
          <a:xfrm>
            <a:off x="841248" y="2560320"/>
            <a:ext cx="640080" cy="64008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5" name="Google Shape;5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669" y="27267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9"/>
          <p:cNvSpPr/>
          <p:nvPr/>
        </p:nvSpPr>
        <p:spPr>
          <a:xfrm>
            <a:off x="1664208" y="22128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Exposed wiring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7" name="Google Shape;5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4208" y="27249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9"/>
          <p:cNvSpPr/>
          <p:nvPr/>
        </p:nvSpPr>
        <p:spPr>
          <a:xfrm>
            <a:off x="2048256" y="2688336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Loose jumper wires on the surface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9" name="Google Shape;5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0408" y="2724912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0" name="Google Shape;60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6208" y="27249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9"/>
          <p:cNvSpPr/>
          <p:nvPr/>
        </p:nvSpPr>
        <p:spPr>
          <a:xfrm>
            <a:off x="6620256" y="2688336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Routed below deck + shield-PCBs; nothing reachable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566928" y="3931920"/>
            <a:ext cx="10607040" cy="1737360"/>
          </a:xfrm>
          <a:prstGeom prst="roundRect">
            <a:avLst>
              <a:gd fmla="val 473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9"/>
          <p:cNvSpPr/>
          <p:nvPr/>
        </p:nvSpPr>
        <p:spPr>
          <a:xfrm>
            <a:off x="841248" y="4480560"/>
            <a:ext cx="640080" cy="64008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4" name="Google Shape;6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7669" y="464698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19"/>
          <p:cNvSpPr/>
          <p:nvPr/>
        </p:nvSpPr>
        <p:spPr>
          <a:xfrm>
            <a:off x="1664208" y="4133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Unreliable colour read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6" name="Google Shape;6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4208" y="46451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19"/>
          <p:cNvSpPr/>
          <p:nvPr/>
        </p:nvSpPr>
        <p:spPr>
          <a:xfrm>
            <a:off x="2048256" y="4608576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Stray light skewed white/black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8" name="Google Shape;6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0408" y="4645152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9" name="Google Shape;6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6208" y="46451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19"/>
          <p:cNvSpPr/>
          <p:nvPr/>
        </p:nvSpPr>
        <p:spPr>
          <a:xfrm>
            <a:off x="6620256" y="4608576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Power-gated emitter + calibrated threshold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0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0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0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0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0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17  ·  COMPLIANCE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Safety Considerations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566928" y="2011680"/>
            <a:ext cx="3456432" cy="1691640"/>
          </a:xfrm>
          <a:prstGeom prst="roundRect">
            <a:avLst>
              <a:gd fmla="val 4865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804672" y="2249424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7" name="Google Shape;6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583" y="2406335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20"/>
          <p:cNvSpPr/>
          <p:nvPr/>
        </p:nvSpPr>
        <p:spPr>
          <a:xfrm>
            <a:off x="804672" y="2926080"/>
            <a:ext cx="2980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No sharp edges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0"/>
          <p:cNvSpPr/>
          <p:nvPr/>
        </p:nvSpPr>
        <p:spPr>
          <a:xfrm>
            <a:off x="804672" y="3236976"/>
            <a:ext cx="2980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3D-printed covers on all exposed MDF edges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4142232" y="2011680"/>
            <a:ext cx="3456432" cy="1691640"/>
          </a:xfrm>
          <a:prstGeom prst="roundRect">
            <a:avLst>
              <a:gd fmla="val 4865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0"/>
          <p:cNvSpPr/>
          <p:nvPr/>
        </p:nvSpPr>
        <p:spPr>
          <a:xfrm>
            <a:off x="4379976" y="2249424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2" name="Google Shape;6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6887" y="2406335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20"/>
          <p:cNvSpPr/>
          <p:nvPr/>
        </p:nvSpPr>
        <p:spPr>
          <a:xfrm>
            <a:off x="4379976" y="2926080"/>
            <a:ext cx="2980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Hidden wiring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4379976" y="3236976"/>
            <a:ext cx="2980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Harness below deck; no accessible contacts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0"/>
          <p:cNvSpPr/>
          <p:nvPr/>
        </p:nvSpPr>
        <p:spPr>
          <a:xfrm>
            <a:off x="7717536" y="2011680"/>
            <a:ext cx="3456432" cy="1691640"/>
          </a:xfrm>
          <a:prstGeom prst="roundRect">
            <a:avLst>
              <a:gd fmla="val 4865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0"/>
          <p:cNvSpPr/>
          <p:nvPr/>
        </p:nvSpPr>
        <p:spPr>
          <a:xfrm>
            <a:off x="7955280" y="2249424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7" name="Google Shape;63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2191" y="2406335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0"/>
          <p:cNvSpPr/>
          <p:nvPr/>
        </p:nvSpPr>
        <p:spPr>
          <a:xfrm>
            <a:off x="7955280" y="2926080"/>
            <a:ext cx="2980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Guarded motion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0"/>
          <p:cNvSpPr/>
          <p:nvPr/>
        </p:nvSpPr>
        <p:spPr>
          <a:xfrm>
            <a:off x="7955280" y="3236976"/>
            <a:ext cx="2980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Moving parts shielded; choking review on balls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0"/>
          <p:cNvSpPr/>
          <p:nvPr/>
        </p:nvSpPr>
        <p:spPr>
          <a:xfrm>
            <a:off x="566928" y="3904488"/>
            <a:ext cx="3456432" cy="1691640"/>
          </a:xfrm>
          <a:prstGeom prst="roundRect">
            <a:avLst>
              <a:gd fmla="val 4865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0"/>
          <p:cNvSpPr/>
          <p:nvPr/>
        </p:nvSpPr>
        <p:spPr>
          <a:xfrm>
            <a:off x="804672" y="4142232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2" name="Google Shape;64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583" y="4299143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0"/>
          <p:cNvSpPr/>
          <p:nvPr/>
        </p:nvSpPr>
        <p:spPr>
          <a:xfrm>
            <a:off x="804672" y="4818888"/>
            <a:ext cx="2980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Single source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804672" y="5129784"/>
            <a:ext cx="2980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One SMPS, common ground, no exposed mains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4142232" y="3904488"/>
            <a:ext cx="3456432" cy="1691640"/>
          </a:xfrm>
          <a:prstGeom prst="roundRect">
            <a:avLst>
              <a:gd fmla="val 4865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0"/>
          <p:cNvSpPr/>
          <p:nvPr/>
        </p:nvSpPr>
        <p:spPr>
          <a:xfrm>
            <a:off x="4379976" y="4142232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7" name="Google Shape;64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36887" y="4299143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20"/>
          <p:cNvSpPr/>
          <p:nvPr/>
        </p:nvSpPr>
        <p:spPr>
          <a:xfrm>
            <a:off x="4379976" y="4818888"/>
            <a:ext cx="2980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Stop control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4379976" y="5129784"/>
            <a:ext cx="2980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Physical start/stop + software reset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0"/>
          <p:cNvSpPr/>
          <p:nvPr/>
        </p:nvSpPr>
        <p:spPr>
          <a:xfrm>
            <a:off x="7717536" y="3904488"/>
            <a:ext cx="3456432" cy="1691640"/>
          </a:xfrm>
          <a:prstGeom prst="roundRect">
            <a:avLst>
              <a:gd fmla="val 4865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0"/>
          <p:cNvSpPr/>
          <p:nvPr/>
        </p:nvSpPr>
        <p:spPr>
          <a:xfrm>
            <a:off x="7955280" y="4142232"/>
            <a:ext cx="603504" cy="603504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2" name="Google Shape;65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12191" y="4299143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0"/>
          <p:cNvSpPr/>
          <p:nvPr/>
        </p:nvSpPr>
        <p:spPr>
          <a:xfrm>
            <a:off x="7955280" y="4818888"/>
            <a:ext cx="2980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Standards intent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0"/>
          <p:cNvSpPr/>
          <p:nvPr/>
        </p:nvSpPr>
        <p:spPr>
          <a:xfrm>
            <a:off x="7955280" y="5129784"/>
            <a:ext cx="2980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Aligned with CE / EN 71 toy safety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6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7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1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9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6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4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1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1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1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1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1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18  ·  EXECUTION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1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Management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1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1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1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1"/>
          <p:cNvSpPr/>
          <p:nvPr/>
        </p:nvSpPr>
        <p:spPr>
          <a:xfrm>
            <a:off x="566928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TEAM &amp; 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1"/>
          <p:cNvSpPr/>
          <p:nvPr/>
        </p:nvSpPr>
        <p:spPr>
          <a:xfrm>
            <a:off x="566928" y="2194560"/>
            <a:ext cx="5394960" cy="566928"/>
          </a:xfrm>
          <a:prstGeom prst="roundRect">
            <a:avLst>
              <a:gd fmla="val 967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1"/>
          <p:cNvSpPr/>
          <p:nvPr/>
        </p:nvSpPr>
        <p:spPr>
          <a:xfrm>
            <a:off x="713232" y="2313432"/>
            <a:ext cx="329184" cy="329184"/>
          </a:xfrm>
          <a:prstGeom prst="ellipse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1"/>
          <p:cNvSpPr/>
          <p:nvPr/>
        </p:nvSpPr>
        <p:spPr>
          <a:xfrm>
            <a:off x="713232" y="23134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122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91222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1"/>
          <p:cNvSpPr/>
          <p:nvPr/>
        </p:nvSpPr>
        <p:spPr>
          <a:xfrm>
            <a:off x="1188720" y="21945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Anas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1"/>
          <p:cNvSpPr/>
          <p:nvPr/>
        </p:nvSpPr>
        <p:spPr>
          <a:xfrm>
            <a:off x="2670048" y="219456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CAD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1"/>
          <p:cNvSpPr/>
          <p:nvPr/>
        </p:nvSpPr>
        <p:spPr>
          <a:xfrm>
            <a:off x="566928" y="2834640"/>
            <a:ext cx="5394960" cy="566928"/>
          </a:xfrm>
          <a:prstGeom prst="roundRect">
            <a:avLst>
              <a:gd fmla="val 967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1"/>
          <p:cNvSpPr/>
          <p:nvPr/>
        </p:nvSpPr>
        <p:spPr>
          <a:xfrm>
            <a:off x="713232" y="2953512"/>
            <a:ext cx="329184" cy="329184"/>
          </a:xfrm>
          <a:prstGeom prst="ellipse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1"/>
          <p:cNvSpPr/>
          <p:nvPr/>
        </p:nvSpPr>
        <p:spPr>
          <a:xfrm>
            <a:off x="713232" y="29535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122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91222"/>
                </a:solidFill>
                <a:latin typeface="Trebuchet MS"/>
                <a:ea typeface="Trebuchet MS"/>
                <a:cs typeface="Trebuchet MS"/>
                <a:sym typeface="Trebuchet MS"/>
              </a:rPr>
              <a:t>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1"/>
          <p:cNvSpPr/>
          <p:nvPr/>
        </p:nvSpPr>
        <p:spPr>
          <a:xfrm>
            <a:off x="1188720" y="283464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Omar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1"/>
          <p:cNvSpPr/>
          <p:nvPr/>
        </p:nvSpPr>
        <p:spPr>
          <a:xfrm>
            <a:off x="2670048" y="283464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Coding + CAD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1"/>
          <p:cNvSpPr/>
          <p:nvPr/>
        </p:nvSpPr>
        <p:spPr>
          <a:xfrm>
            <a:off x="566928" y="3474720"/>
            <a:ext cx="5394960" cy="566928"/>
          </a:xfrm>
          <a:prstGeom prst="roundRect">
            <a:avLst>
              <a:gd fmla="val 967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1"/>
          <p:cNvSpPr/>
          <p:nvPr/>
        </p:nvSpPr>
        <p:spPr>
          <a:xfrm>
            <a:off x="713232" y="3593592"/>
            <a:ext cx="329184" cy="329184"/>
          </a:xfrm>
          <a:prstGeom prst="ellipse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1"/>
          <p:cNvSpPr/>
          <p:nvPr/>
        </p:nvSpPr>
        <p:spPr>
          <a:xfrm>
            <a:off x="713232" y="35935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122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91222"/>
                </a:solidFill>
                <a:latin typeface="Trebuchet MS"/>
                <a:ea typeface="Trebuchet MS"/>
                <a:cs typeface="Trebuchet MS"/>
                <a:sym typeface="Trebuchet MS"/>
              </a:rPr>
              <a:t>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/>
          <p:nvPr/>
        </p:nvSpPr>
        <p:spPr>
          <a:xfrm>
            <a:off x="1188720" y="34747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Teefa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1"/>
          <p:cNvSpPr/>
          <p:nvPr/>
        </p:nvSpPr>
        <p:spPr>
          <a:xfrm>
            <a:off x="2670048" y="347472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App, comms &amp; code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1"/>
          <p:cNvSpPr/>
          <p:nvPr/>
        </p:nvSpPr>
        <p:spPr>
          <a:xfrm>
            <a:off x="566928" y="4114800"/>
            <a:ext cx="5394960" cy="566928"/>
          </a:xfrm>
          <a:prstGeom prst="roundRect">
            <a:avLst>
              <a:gd fmla="val 967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1"/>
          <p:cNvSpPr/>
          <p:nvPr/>
        </p:nvSpPr>
        <p:spPr>
          <a:xfrm>
            <a:off x="713232" y="4233672"/>
            <a:ext cx="329184" cy="329184"/>
          </a:xfrm>
          <a:prstGeom prst="ellipse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1"/>
          <p:cNvSpPr/>
          <p:nvPr/>
        </p:nvSpPr>
        <p:spPr>
          <a:xfrm>
            <a:off x="713232" y="42336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122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91222"/>
                </a:solidFill>
                <a:latin typeface="Trebuchet MS"/>
                <a:ea typeface="Trebuchet MS"/>
                <a:cs typeface="Trebuchet MS"/>
                <a:sym typeface="Trebuchet MS"/>
              </a:rPr>
              <a:t>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1"/>
          <p:cNvSpPr/>
          <p:nvPr/>
        </p:nvSpPr>
        <p:spPr>
          <a:xfrm>
            <a:off x="1188720" y="41148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Essa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1"/>
          <p:cNvSpPr/>
          <p:nvPr/>
        </p:nvSpPr>
        <p:spPr>
          <a:xfrm>
            <a:off x="2670048" y="411480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PCB, wiring, PDS, block diagram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1"/>
          <p:cNvSpPr/>
          <p:nvPr/>
        </p:nvSpPr>
        <p:spPr>
          <a:xfrm>
            <a:off x="566928" y="4754880"/>
            <a:ext cx="5394960" cy="566928"/>
          </a:xfrm>
          <a:prstGeom prst="roundRect">
            <a:avLst>
              <a:gd fmla="val 967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1"/>
          <p:cNvSpPr/>
          <p:nvPr/>
        </p:nvSpPr>
        <p:spPr>
          <a:xfrm>
            <a:off x="713232" y="4873752"/>
            <a:ext cx="329184" cy="329184"/>
          </a:xfrm>
          <a:prstGeom prst="ellipse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1"/>
          <p:cNvSpPr/>
          <p:nvPr/>
        </p:nvSpPr>
        <p:spPr>
          <a:xfrm>
            <a:off x="713232" y="48737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122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91222"/>
                </a:solidFill>
                <a:latin typeface="Trebuchet MS"/>
                <a:ea typeface="Trebuchet MS"/>
                <a:cs typeface="Trebuchet MS"/>
                <a:sym typeface="Trebuchet MS"/>
              </a:rPr>
              <a:t>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1188720" y="47548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Mario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1"/>
          <p:cNvSpPr/>
          <p:nvPr/>
        </p:nvSpPr>
        <p:spPr>
          <a:xfrm>
            <a:off x="2670048" y="475488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Calculations + documentation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/>
          <p:nvPr/>
        </p:nvSpPr>
        <p:spPr>
          <a:xfrm>
            <a:off x="635508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12-WEEK TIMELINE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6" name="Google Shape;696;p21"/>
          <p:cNvCxnSpPr/>
          <p:nvPr/>
        </p:nvCxnSpPr>
        <p:spPr>
          <a:xfrm>
            <a:off x="8275320" y="2194560"/>
            <a:ext cx="0" cy="3246120"/>
          </a:xfrm>
          <a:prstGeom prst="straightConnector1">
            <a:avLst/>
          </a:prstGeom>
          <a:noFill/>
          <a:ln cap="flat" cmpd="sng" w="9525">
            <a:solidFill>
              <a:srgbClr val="1C2C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7" name="Google Shape;697;p21"/>
          <p:cNvCxnSpPr/>
          <p:nvPr/>
        </p:nvCxnSpPr>
        <p:spPr>
          <a:xfrm>
            <a:off x="8823960" y="2194560"/>
            <a:ext cx="0" cy="3246120"/>
          </a:xfrm>
          <a:prstGeom prst="straightConnector1">
            <a:avLst/>
          </a:prstGeom>
          <a:noFill/>
          <a:ln cap="flat" cmpd="sng" w="9525">
            <a:solidFill>
              <a:srgbClr val="1C2C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8" name="Google Shape;698;p21"/>
          <p:cNvCxnSpPr/>
          <p:nvPr/>
        </p:nvCxnSpPr>
        <p:spPr>
          <a:xfrm>
            <a:off x="9372600" y="2194560"/>
            <a:ext cx="0" cy="3246120"/>
          </a:xfrm>
          <a:prstGeom prst="straightConnector1">
            <a:avLst/>
          </a:prstGeom>
          <a:noFill/>
          <a:ln cap="flat" cmpd="sng" w="9525">
            <a:solidFill>
              <a:srgbClr val="1C2C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21"/>
          <p:cNvCxnSpPr/>
          <p:nvPr/>
        </p:nvCxnSpPr>
        <p:spPr>
          <a:xfrm>
            <a:off x="9921240" y="2194560"/>
            <a:ext cx="0" cy="3246120"/>
          </a:xfrm>
          <a:prstGeom prst="straightConnector1">
            <a:avLst/>
          </a:prstGeom>
          <a:noFill/>
          <a:ln cap="flat" cmpd="sng" w="9525">
            <a:solidFill>
              <a:srgbClr val="1C2C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21"/>
          <p:cNvCxnSpPr/>
          <p:nvPr/>
        </p:nvCxnSpPr>
        <p:spPr>
          <a:xfrm>
            <a:off x="10469880" y="2194560"/>
            <a:ext cx="0" cy="3246120"/>
          </a:xfrm>
          <a:prstGeom prst="straightConnector1">
            <a:avLst/>
          </a:prstGeom>
          <a:noFill/>
          <a:ln cap="flat" cmpd="sng" w="9525">
            <a:solidFill>
              <a:srgbClr val="1C2C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21"/>
          <p:cNvCxnSpPr/>
          <p:nvPr/>
        </p:nvCxnSpPr>
        <p:spPr>
          <a:xfrm>
            <a:off x="11018520" y="2194560"/>
            <a:ext cx="0" cy="3246120"/>
          </a:xfrm>
          <a:prstGeom prst="straightConnector1">
            <a:avLst/>
          </a:prstGeom>
          <a:noFill/>
          <a:ln cap="flat" cmpd="sng" w="9525">
            <a:solidFill>
              <a:srgbClr val="1C2C4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21"/>
          <p:cNvCxnSpPr/>
          <p:nvPr/>
        </p:nvCxnSpPr>
        <p:spPr>
          <a:xfrm>
            <a:off x="11567160" y="2194560"/>
            <a:ext cx="0" cy="3246120"/>
          </a:xfrm>
          <a:prstGeom prst="straightConnector1">
            <a:avLst/>
          </a:prstGeom>
          <a:noFill/>
          <a:ln cap="flat" cmpd="sng" w="9525">
            <a:solidFill>
              <a:srgbClr val="1C2C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3" name="Google Shape;703;p21"/>
          <p:cNvSpPr/>
          <p:nvPr/>
        </p:nvSpPr>
        <p:spPr>
          <a:xfrm>
            <a:off x="6355080" y="224028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1"/>
          <p:cNvSpPr/>
          <p:nvPr/>
        </p:nvSpPr>
        <p:spPr>
          <a:xfrm>
            <a:off x="8275320" y="2295144"/>
            <a:ext cx="3291840" cy="274320"/>
          </a:xfrm>
          <a:prstGeom prst="roundRect">
            <a:avLst>
              <a:gd fmla="val 13333" name="adj"/>
            </a:avLst>
          </a:prstGeom>
          <a:solidFill>
            <a:srgbClr val="127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1"/>
          <p:cNvSpPr/>
          <p:nvPr/>
        </p:nvSpPr>
        <p:spPr>
          <a:xfrm>
            <a:off x="6355080" y="275234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Mechanical / CAD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1"/>
          <p:cNvSpPr/>
          <p:nvPr/>
        </p:nvSpPr>
        <p:spPr>
          <a:xfrm>
            <a:off x="8275320" y="2807208"/>
            <a:ext cx="1645920" cy="274320"/>
          </a:xfrm>
          <a:prstGeom prst="roundRect">
            <a:avLst>
              <a:gd fmla="val 13333" name="adj"/>
            </a:avLst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1"/>
          <p:cNvSpPr/>
          <p:nvPr/>
        </p:nvSpPr>
        <p:spPr>
          <a:xfrm>
            <a:off x="6355080" y="32644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Firmware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1"/>
          <p:cNvSpPr/>
          <p:nvPr/>
        </p:nvSpPr>
        <p:spPr>
          <a:xfrm>
            <a:off x="8823960" y="3319272"/>
            <a:ext cx="1645920" cy="274320"/>
          </a:xfrm>
          <a:prstGeom prst="roundRect">
            <a:avLst>
              <a:gd fmla="val 13333" name="adj"/>
            </a:avLst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1"/>
          <p:cNvSpPr/>
          <p:nvPr/>
        </p:nvSpPr>
        <p:spPr>
          <a:xfrm>
            <a:off x="6355080" y="377647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App / Bluetooth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1"/>
          <p:cNvSpPr/>
          <p:nvPr/>
        </p:nvSpPr>
        <p:spPr>
          <a:xfrm>
            <a:off x="9372600" y="3831336"/>
            <a:ext cx="1645920" cy="274320"/>
          </a:xfrm>
          <a:prstGeom prst="roundRect">
            <a:avLst>
              <a:gd fmla="val 13333" name="adj"/>
            </a:avLst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1"/>
          <p:cNvSpPr/>
          <p:nvPr/>
        </p:nvSpPr>
        <p:spPr>
          <a:xfrm>
            <a:off x="6355080" y="428853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PCB / Electrical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1"/>
          <p:cNvSpPr/>
          <p:nvPr/>
        </p:nvSpPr>
        <p:spPr>
          <a:xfrm>
            <a:off x="8823960" y="4343400"/>
            <a:ext cx="1645920" cy="274320"/>
          </a:xfrm>
          <a:prstGeom prst="roundRect">
            <a:avLst>
              <a:gd fmla="val 13333" name="adj"/>
            </a:avLst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1"/>
          <p:cNvSpPr/>
          <p:nvPr/>
        </p:nvSpPr>
        <p:spPr>
          <a:xfrm>
            <a:off x="6355080" y="480060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1"/>
          <p:cNvSpPr/>
          <p:nvPr/>
        </p:nvSpPr>
        <p:spPr>
          <a:xfrm>
            <a:off x="9921240" y="4855464"/>
            <a:ext cx="1645920" cy="274320"/>
          </a:xfrm>
          <a:prstGeom prst="roundRect">
            <a:avLst>
              <a:gd fmla="val 13333" name="adj"/>
            </a:avLst>
          </a:prstGeom>
          <a:solidFill>
            <a:srgbClr val="54E0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1"/>
          <p:cNvSpPr/>
          <p:nvPr/>
        </p:nvSpPr>
        <p:spPr>
          <a:xfrm>
            <a:off x="6355080" y="5440680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W1–W12  ·  critical path: CAD → Firmware → PCB →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6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7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1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9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6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4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8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5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9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3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7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4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8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6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2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2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2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2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19  ·  OUTCOMES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&amp; Assurance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2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2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2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2"/>
          <p:cNvSpPr/>
          <p:nvPr/>
        </p:nvSpPr>
        <p:spPr>
          <a:xfrm>
            <a:off x="636880" y="196596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2"/>
          <p:cNvSpPr/>
          <p:nvPr/>
        </p:nvSpPr>
        <p:spPr>
          <a:xfrm>
            <a:off x="838048" y="2148840"/>
            <a:ext cx="22037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≥ 95%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2"/>
          <p:cNvSpPr/>
          <p:nvPr/>
        </p:nvSpPr>
        <p:spPr>
          <a:xfrm>
            <a:off x="838048" y="2834640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sorting accuracy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2"/>
          <p:cNvSpPr/>
          <p:nvPr/>
        </p:nvSpPr>
        <p:spPr>
          <a:xfrm>
            <a:off x="3407512" y="196596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2"/>
          <p:cNvSpPr/>
          <p:nvPr/>
        </p:nvSpPr>
        <p:spPr>
          <a:xfrm>
            <a:off x="3608680" y="2148840"/>
            <a:ext cx="22037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&lt; 200 ms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2"/>
          <p:cNvSpPr/>
          <p:nvPr/>
        </p:nvSpPr>
        <p:spPr>
          <a:xfrm>
            <a:off x="3608680" y="2834640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actuator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2"/>
          <p:cNvSpPr/>
          <p:nvPr/>
        </p:nvSpPr>
        <p:spPr>
          <a:xfrm>
            <a:off x="6178144" y="196596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2"/>
          <p:cNvSpPr/>
          <p:nvPr/>
        </p:nvSpPr>
        <p:spPr>
          <a:xfrm>
            <a:off x="6379312" y="2148840"/>
            <a:ext cx="22037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50+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2"/>
          <p:cNvSpPr/>
          <p:nvPr/>
        </p:nvSpPr>
        <p:spPr>
          <a:xfrm>
            <a:off x="6379312" y="2834640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closed-loop cycles, no jam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2"/>
          <p:cNvSpPr/>
          <p:nvPr/>
        </p:nvSpPr>
        <p:spPr>
          <a:xfrm>
            <a:off x="8948776" y="1965960"/>
            <a:ext cx="2606040" cy="1371600"/>
          </a:xfrm>
          <a:prstGeom prst="roundRect">
            <a:avLst>
              <a:gd fmla="val 600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2"/>
          <p:cNvSpPr/>
          <p:nvPr/>
        </p:nvSpPr>
        <p:spPr>
          <a:xfrm>
            <a:off x="9149944" y="2148840"/>
            <a:ext cx="22037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2"/>
          <p:cNvSpPr/>
          <p:nvPr/>
        </p:nvSpPr>
        <p:spPr>
          <a:xfrm>
            <a:off x="9149944" y="2834640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dropped UART messages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2"/>
          <p:cNvSpPr/>
          <p:nvPr/>
        </p:nvSpPr>
        <p:spPr>
          <a:xfrm>
            <a:off x="566928" y="3657600"/>
            <a:ext cx="5212080" cy="2148840"/>
          </a:xfrm>
          <a:prstGeom prst="roundRect">
            <a:avLst>
              <a:gd fmla="val 383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2"/>
          <p:cNvSpPr/>
          <p:nvPr/>
        </p:nvSpPr>
        <p:spPr>
          <a:xfrm>
            <a:off x="841248" y="3822192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VALIDATION  ·  meets the goal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2"/>
          <p:cNvSpPr/>
          <p:nvPr/>
        </p:nvSpPr>
        <p:spPr>
          <a:xfrm>
            <a:off x="841248" y="4206240"/>
            <a:ext cx="4663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Correct cells advance; wrong cells rejected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App, LCD, lives &amp; timer mirror the machine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Safe &amp; engaging for ages 2–10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2"/>
          <p:cNvSpPr/>
          <p:nvPr/>
        </p:nvSpPr>
        <p:spPr>
          <a:xfrm>
            <a:off x="6355080" y="3657600"/>
            <a:ext cx="5257800" cy="2148840"/>
          </a:xfrm>
          <a:prstGeom prst="roundRect">
            <a:avLst>
              <a:gd fmla="val 3830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2"/>
          <p:cNvSpPr/>
          <p:nvPr/>
        </p:nvSpPr>
        <p:spPr>
          <a:xfrm>
            <a:off x="6629400" y="382219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E0A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54E0A0"/>
                </a:solidFill>
                <a:latin typeface="Trebuchet MS"/>
                <a:ea typeface="Trebuchet MS"/>
                <a:cs typeface="Trebuchet MS"/>
                <a:sym typeface="Trebuchet MS"/>
              </a:rPr>
              <a:t>VERIFICATION  ·  meets the spec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2"/>
          <p:cNvSpPr/>
          <p:nvPr/>
        </p:nvSpPr>
        <p:spPr>
          <a:xfrm>
            <a:off x="6629400" y="420624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Servo set-points hit; PWM fire/retract verified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UART 9600 baud, zero dropped messages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9FB1C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Edge covers inspected; rails &lt; 5% droop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3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3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3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3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3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20  ·  HARDWARE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3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Core Components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3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3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3"/>
          <p:cNvSpPr/>
          <p:nvPr/>
        </p:nvSpPr>
        <p:spPr>
          <a:xfrm>
            <a:off x="566928" y="2011680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3"/>
          <p:cNvSpPr/>
          <p:nvPr/>
        </p:nvSpPr>
        <p:spPr>
          <a:xfrm>
            <a:off x="749808" y="2267712"/>
            <a:ext cx="548640" cy="54864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4" name="Google Shape;7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454" y="241035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23"/>
          <p:cNvSpPr/>
          <p:nvPr/>
        </p:nvSpPr>
        <p:spPr>
          <a:xfrm>
            <a:off x="1408176" y="2176272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Arduino Mega 2560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3"/>
          <p:cNvSpPr/>
          <p:nvPr/>
        </p:nvSpPr>
        <p:spPr>
          <a:xfrm>
            <a:off x="1408176" y="2560320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Master controller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3"/>
          <p:cNvSpPr/>
          <p:nvPr/>
        </p:nvSpPr>
        <p:spPr>
          <a:xfrm>
            <a:off x="4142232" y="2011680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3"/>
          <p:cNvSpPr/>
          <p:nvPr/>
        </p:nvSpPr>
        <p:spPr>
          <a:xfrm>
            <a:off x="4325112" y="2267712"/>
            <a:ext cx="548640" cy="54864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9" name="Google Shape;7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7758" y="241035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23"/>
          <p:cNvSpPr/>
          <p:nvPr/>
        </p:nvSpPr>
        <p:spPr>
          <a:xfrm>
            <a:off x="4983480" y="2176272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Arduino Uno R3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3"/>
          <p:cNvSpPr/>
          <p:nvPr/>
        </p:nvSpPr>
        <p:spPr>
          <a:xfrm>
            <a:off x="4983480" y="2560320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Slave controller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3"/>
          <p:cNvSpPr/>
          <p:nvPr/>
        </p:nvSpPr>
        <p:spPr>
          <a:xfrm>
            <a:off x="7717536" y="2011680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3"/>
          <p:cNvSpPr/>
          <p:nvPr/>
        </p:nvSpPr>
        <p:spPr>
          <a:xfrm>
            <a:off x="7900416" y="2267712"/>
            <a:ext cx="548640" cy="54864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4" name="Google Shape;7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3062" y="241035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23"/>
          <p:cNvSpPr/>
          <p:nvPr/>
        </p:nvSpPr>
        <p:spPr>
          <a:xfrm>
            <a:off x="8558784" y="2176272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HC-05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3"/>
          <p:cNvSpPr/>
          <p:nvPr/>
        </p:nvSpPr>
        <p:spPr>
          <a:xfrm>
            <a:off x="8558784" y="2560320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Bluetooth 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3"/>
          <p:cNvSpPr/>
          <p:nvPr/>
        </p:nvSpPr>
        <p:spPr>
          <a:xfrm>
            <a:off x="566928" y="3236976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3"/>
          <p:cNvSpPr/>
          <p:nvPr/>
        </p:nvSpPr>
        <p:spPr>
          <a:xfrm>
            <a:off x="749808" y="3493008"/>
            <a:ext cx="548640" cy="54864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9" name="Google Shape;77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2454" y="3635654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23"/>
          <p:cNvSpPr/>
          <p:nvPr/>
        </p:nvSpPr>
        <p:spPr>
          <a:xfrm>
            <a:off x="1408176" y="340156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I2C 16×2 LCD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3"/>
          <p:cNvSpPr/>
          <p:nvPr/>
        </p:nvSpPr>
        <p:spPr>
          <a:xfrm>
            <a:off x="1408176" y="3785616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On-board display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3"/>
          <p:cNvSpPr/>
          <p:nvPr/>
        </p:nvSpPr>
        <p:spPr>
          <a:xfrm>
            <a:off x="4142232" y="3236976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3"/>
          <p:cNvSpPr/>
          <p:nvPr/>
        </p:nvSpPr>
        <p:spPr>
          <a:xfrm>
            <a:off x="4325112" y="3493008"/>
            <a:ext cx="548640" cy="54864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4" name="Google Shape;78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67758" y="3635654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23"/>
          <p:cNvSpPr/>
          <p:nvPr/>
        </p:nvSpPr>
        <p:spPr>
          <a:xfrm>
            <a:off x="4983480" y="340156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Servo motors ×3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3"/>
          <p:cNvSpPr/>
          <p:nvPr/>
        </p:nvSpPr>
        <p:spPr>
          <a:xfrm>
            <a:off x="4983480" y="3785616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Holder / path / lift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3"/>
          <p:cNvSpPr/>
          <p:nvPr/>
        </p:nvSpPr>
        <p:spPr>
          <a:xfrm>
            <a:off x="7717536" y="3236976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3"/>
          <p:cNvSpPr/>
          <p:nvPr/>
        </p:nvSpPr>
        <p:spPr>
          <a:xfrm>
            <a:off x="7900416" y="3493008"/>
            <a:ext cx="548640" cy="54864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9" name="Google Shape;78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43062" y="3635654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23"/>
          <p:cNvSpPr/>
          <p:nvPr/>
        </p:nvSpPr>
        <p:spPr>
          <a:xfrm>
            <a:off x="8558784" y="340156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DC motor + L298N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3"/>
          <p:cNvSpPr/>
          <p:nvPr/>
        </p:nvSpPr>
        <p:spPr>
          <a:xfrm>
            <a:off x="8558784" y="3785616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Projectile shooter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3"/>
          <p:cNvSpPr/>
          <p:nvPr/>
        </p:nvSpPr>
        <p:spPr>
          <a:xfrm>
            <a:off x="566928" y="4462272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3"/>
          <p:cNvSpPr/>
          <p:nvPr/>
        </p:nvSpPr>
        <p:spPr>
          <a:xfrm>
            <a:off x="749808" y="4718304"/>
            <a:ext cx="548640" cy="54864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4" name="Google Shape;79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2454" y="4860950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23"/>
          <p:cNvSpPr/>
          <p:nvPr/>
        </p:nvSpPr>
        <p:spPr>
          <a:xfrm>
            <a:off x="1408176" y="4626864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IR sensors ×5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3"/>
          <p:cNvSpPr/>
          <p:nvPr/>
        </p:nvSpPr>
        <p:spPr>
          <a:xfrm>
            <a:off x="1408176" y="5010912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Presence / colour / barrel / lift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3"/>
          <p:cNvSpPr/>
          <p:nvPr/>
        </p:nvSpPr>
        <p:spPr>
          <a:xfrm>
            <a:off x="4142232" y="4462272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3"/>
          <p:cNvSpPr/>
          <p:nvPr/>
        </p:nvSpPr>
        <p:spPr>
          <a:xfrm>
            <a:off x="4325112" y="4718304"/>
            <a:ext cx="548640" cy="54864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9" name="Google Shape;79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67758" y="4860950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23"/>
          <p:cNvSpPr/>
          <p:nvPr/>
        </p:nvSpPr>
        <p:spPr>
          <a:xfrm>
            <a:off x="4983480" y="4626864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SMPS + buck + 9 V reg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3"/>
          <p:cNvSpPr/>
          <p:nvPr/>
        </p:nvSpPr>
        <p:spPr>
          <a:xfrm>
            <a:off x="4983480" y="5010912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Power chain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3"/>
          <p:cNvSpPr/>
          <p:nvPr/>
        </p:nvSpPr>
        <p:spPr>
          <a:xfrm>
            <a:off x="7717536" y="4462272"/>
            <a:ext cx="3456432" cy="1078992"/>
          </a:xfrm>
          <a:prstGeom prst="roundRect">
            <a:avLst>
              <a:gd fmla="val 7627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3"/>
          <p:cNvSpPr/>
          <p:nvPr/>
        </p:nvSpPr>
        <p:spPr>
          <a:xfrm>
            <a:off x="7900416" y="4718304"/>
            <a:ext cx="548640" cy="54864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4" name="Google Shape;804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43062" y="4860950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23"/>
          <p:cNvSpPr/>
          <p:nvPr/>
        </p:nvSpPr>
        <p:spPr>
          <a:xfrm>
            <a:off x="8558784" y="4626864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2× shield-PCBs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3"/>
          <p:cNvSpPr/>
          <p:nvPr/>
        </p:nvSpPr>
        <p:spPr>
          <a:xfrm>
            <a:off x="8558784" y="5010912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Uno + Mega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8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6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7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1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9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6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4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8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5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9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3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7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4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8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6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4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4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4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4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2BD4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4"/>
          <p:cNvSpPr/>
          <p:nvPr/>
        </p:nvSpPr>
        <p:spPr>
          <a:xfrm>
            <a:off x="82296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21  ·  CLOSING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4"/>
          <p:cNvSpPr/>
          <p:nvPr/>
        </p:nvSpPr>
        <p:spPr>
          <a:xfrm>
            <a:off x="566928" y="841248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3300"/>
              <a:buFont typeface="Trebuchet MS"/>
              <a:buNone/>
            </a:pPr>
            <a:r>
              <a:rPr b="1" i="0" lang="en-US" sz="33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&amp; Next Steps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4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4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21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4"/>
          <p:cNvSpPr/>
          <p:nvPr/>
        </p:nvSpPr>
        <p:spPr>
          <a:xfrm>
            <a:off x="566928" y="1920240"/>
            <a:ext cx="5486400" cy="3794760"/>
          </a:xfrm>
          <a:prstGeom prst="roundRect">
            <a:avLst>
              <a:gd fmla="val 2169" name="adj"/>
            </a:avLst>
          </a:prstGeom>
          <a:solidFill>
            <a:srgbClr val="14274A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841248" y="2103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DELIVERED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841248" y="2514600"/>
            <a:ext cx="49377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Working closed-loop toy: sort, shoot, lift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Two-MCU master/slave over UART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Two interfaces: LCD + Bluetooth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Two custom shield-PCBs, single SMPS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EF4F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Child-safe finish via 3D-printed edge covers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6355080" y="1920240"/>
            <a:ext cx="5257800" cy="3794760"/>
          </a:xfrm>
          <a:prstGeom prst="roundRect">
            <a:avLst>
              <a:gd fmla="val 2169" name="adj"/>
            </a:avLst>
          </a:prstGeom>
          <a:solidFill>
            <a:srgbClr val="0C1730"/>
          </a:solidFill>
          <a:ln cap="flat" cmpd="sng" w="12700">
            <a:solidFill>
              <a:srgbClr val="27395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4"/>
          <p:cNvSpPr/>
          <p:nvPr/>
        </p:nvSpPr>
        <p:spPr>
          <a:xfrm>
            <a:off x="6629400" y="2103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E0A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4E0A0"/>
                </a:solidFill>
                <a:latin typeface="Trebuchet MS"/>
                <a:ea typeface="Trebuchet MS"/>
                <a:cs typeface="Trebuchet MS"/>
                <a:sym typeface="Trebuchet MS"/>
              </a:rPr>
              <a:t>NEXT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4"/>
          <p:cNvSpPr/>
          <p:nvPr/>
        </p:nvSpPr>
        <p:spPr>
          <a:xfrm>
            <a:off x="6629400" y="2606040"/>
            <a:ext cx="512064" cy="512064"/>
          </a:xfrm>
          <a:prstGeom prst="ellipse">
            <a:avLst/>
          </a:prstGeom>
          <a:solidFill>
            <a:srgbClr val="54E0A0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7" name="Google Shape;8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537" y="273917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24"/>
          <p:cNvSpPr/>
          <p:nvPr/>
        </p:nvSpPr>
        <p:spPr>
          <a:xfrm>
            <a:off x="7269480" y="2606040"/>
            <a:ext cx="42062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Finish HC-05 pairing + serial in the app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4"/>
          <p:cNvSpPr/>
          <p:nvPr/>
        </p:nvSpPr>
        <p:spPr>
          <a:xfrm>
            <a:off x="6629400" y="3474720"/>
            <a:ext cx="512064" cy="512064"/>
          </a:xfrm>
          <a:prstGeom prst="ellipse">
            <a:avLst/>
          </a:prstGeom>
          <a:solidFill>
            <a:srgbClr val="54E0A0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0" name="Google Shape;83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537" y="360785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24"/>
          <p:cNvSpPr/>
          <p:nvPr/>
        </p:nvSpPr>
        <p:spPr>
          <a:xfrm>
            <a:off x="7269480" y="3474720"/>
            <a:ext cx="42062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Complete current-consumption measurements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4"/>
          <p:cNvSpPr/>
          <p:nvPr/>
        </p:nvSpPr>
        <p:spPr>
          <a:xfrm>
            <a:off x="6629400" y="4343400"/>
            <a:ext cx="512064" cy="512064"/>
          </a:xfrm>
          <a:prstGeom prst="ellipse">
            <a:avLst/>
          </a:prstGeom>
          <a:solidFill>
            <a:srgbClr val="54E0A0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3" name="Google Shape;83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537" y="447653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24"/>
          <p:cNvSpPr/>
          <p:nvPr/>
        </p:nvSpPr>
        <p:spPr>
          <a:xfrm>
            <a:off x="7269480" y="4343400"/>
            <a:ext cx="42062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EF4FB"/>
                </a:solidFill>
                <a:latin typeface="Calibri"/>
                <a:ea typeface="Calibri"/>
                <a:cs typeface="Calibri"/>
                <a:sym typeface="Calibri"/>
              </a:rPr>
              <a:t>Add sound effects &amp; difficulty levels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9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3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2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5"/>
          <p:cNvSpPr/>
          <p:nvPr/>
        </p:nvSpPr>
        <p:spPr>
          <a:xfrm>
            <a:off x="9357055" y="4023360"/>
            <a:ext cx="4754880" cy="475488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5"/>
          <p:cNvSpPr/>
          <p:nvPr/>
        </p:nvSpPr>
        <p:spPr>
          <a:xfrm>
            <a:off x="10180015" y="4846320"/>
            <a:ext cx="3108960" cy="3108960"/>
          </a:xfrm>
          <a:prstGeom prst="ellipse">
            <a:avLst/>
          </a:prstGeom>
          <a:noFill/>
          <a:ln cap="flat" cmpd="sng" w="15875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5"/>
          <p:cNvSpPr/>
          <p:nvPr/>
        </p:nvSpPr>
        <p:spPr>
          <a:xfrm>
            <a:off x="10865815" y="5532120"/>
            <a:ext cx="1737360" cy="1737360"/>
          </a:xfrm>
          <a:prstGeom prst="ellipse">
            <a:avLst/>
          </a:prstGeom>
          <a:noFill/>
          <a:ln cap="flat" cmpd="sng" w="12700">
            <a:solidFill>
              <a:srgbClr val="127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5"/>
          <p:cNvSpPr/>
          <p:nvPr/>
        </p:nvSpPr>
        <p:spPr>
          <a:xfrm>
            <a:off x="8534095" y="-1097280"/>
            <a:ext cx="5120640" cy="5120640"/>
          </a:xfrm>
          <a:prstGeom prst="ellipse">
            <a:avLst/>
          </a:prstGeom>
          <a:noFill/>
          <a:ln cap="flat" cmpd="sng" w="19050">
            <a:solidFill>
              <a:srgbClr val="14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5"/>
          <p:cNvSpPr/>
          <p:nvPr/>
        </p:nvSpPr>
        <p:spPr>
          <a:xfrm>
            <a:off x="566928" y="2286000"/>
            <a:ext cx="868680" cy="868680"/>
          </a:xfrm>
          <a:prstGeom prst="ellipse">
            <a:avLst/>
          </a:prstGeom>
          <a:solidFill>
            <a:srgbClr val="2BD4E6"/>
          </a:solidFill>
          <a:ln>
            <a:noFill/>
          </a:ln>
          <a:effectLst>
            <a:outerShdw blurRad="114300" rotWithShape="0" algn="bl" dir="5400000" dist="38100">
              <a:srgbClr val="000000">
                <a:alpha val="3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5" name="Google Shape;8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785" y="251185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25"/>
          <p:cNvSpPr/>
          <p:nvPr/>
        </p:nvSpPr>
        <p:spPr>
          <a:xfrm>
            <a:off x="566928" y="3246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FB"/>
              </a:buClr>
              <a:buSzPts val="5000"/>
              <a:buFont typeface="Trebuchet MS"/>
              <a:buNone/>
            </a:pPr>
            <a:r>
              <a:rPr b="1" i="0" lang="en-US" sz="5000" u="none" cap="none" strike="noStrike">
                <a:solidFill>
                  <a:srgbClr val="EEF4FB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5"/>
          <p:cNvSpPr/>
          <p:nvPr/>
        </p:nvSpPr>
        <p:spPr>
          <a:xfrm>
            <a:off x="566928" y="4206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1C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FB1CC"/>
                </a:solidFill>
                <a:latin typeface="Calibri"/>
                <a:ea typeface="Calibri"/>
                <a:cs typeface="Calibri"/>
                <a:sym typeface="Calibri"/>
              </a:rPr>
              <a:t>Questions &amp; discussion welcome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5"/>
          <p:cNvSpPr/>
          <p:nvPr/>
        </p:nvSpPr>
        <p:spPr>
          <a:xfrm>
            <a:off x="566928" y="5852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r>
              <a:rPr b="1" i="0" lang="en-US" sz="11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  ·  MCT231  ·  Omar · Anas · Teefa · Essa · Mario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lang="en-US" sz="800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AMONG 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5"/>
          <p:cNvSpPr/>
          <p:nvPr/>
        </p:nvSpPr>
        <p:spPr>
          <a:xfrm>
            <a:off x="9448495" y="6437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80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6E80A0"/>
                </a:solidFill>
                <a:latin typeface="Trebuchet MS"/>
                <a:ea typeface="Trebuchet MS"/>
                <a:cs typeface="Trebuchet MS"/>
                <a:sym typeface="Trebuchet MS"/>
              </a:rPr>
              <a:t>MCT231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5"/>
          <p:cNvSpPr/>
          <p:nvPr/>
        </p:nvSpPr>
        <p:spPr>
          <a:xfrm>
            <a:off x="11112703" y="6400800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D4E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BD4E6"/>
                </a:solidFill>
                <a:latin typeface="Trebuchet MS"/>
                <a:ea typeface="Trebuchet MS"/>
                <a:cs typeface="Trebuchet MS"/>
                <a:sym typeface="Trebuchet MS"/>
              </a:rPr>
              <a:t>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6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4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2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8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8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